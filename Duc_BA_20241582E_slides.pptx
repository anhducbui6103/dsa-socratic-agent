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3fa010d4b84164" /><Relationship Type="http://schemas.openxmlformats.org/officeDocument/2006/relationships/extended-properties" Target="/docProps/app.xml" Id="R82c8010e77724055" /><Relationship Type="http://schemas.openxmlformats.org/officeDocument/2006/relationships/officeDocument" Target="/ppt/presentation.xml" Id="Rc3981438985c404e" /></Relationships>
</file>

<file path=ppt/presentation.xml><?xml version="1.0" encoding="utf-8"?>
<p:presentation xmlns:p="http://schemas.openxmlformats.org/presentationml/2006/main">
  <p:sldMasterIdLst>
    <p:sldMasterId xmlns:r="http://schemas.openxmlformats.org/officeDocument/2006/relationships" id="2147483648" r:id="R225c6e6da4764469"/>
  </p:sldMasterIdLst>
  <p:notesMasterIdLst>
    <p:notesMasterId xmlns:r="http://schemas.openxmlformats.org/officeDocument/2006/relationships" r:id="R107334b5f09a462a"/>
  </p:notesMasterIdLst>
  <p:sldIdLst>
    <p:sldId xmlns:r="http://schemas.openxmlformats.org/officeDocument/2006/relationships" id="256" r:id="Rc2bd81a8cfd64425"/>
    <p:sldId xmlns:r="http://schemas.openxmlformats.org/officeDocument/2006/relationships" id="257" r:id="R2c880c6cd6f24634"/>
    <p:sldId xmlns:r="http://schemas.openxmlformats.org/officeDocument/2006/relationships" id="258" r:id="Re2ca6818bc7245e1"/>
    <p:sldId xmlns:r="http://schemas.openxmlformats.org/officeDocument/2006/relationships" id="259" r:id="Ra2892168393c4a5c"/>
    <p:sldId xmlns:r="http://schemas.openxmlformats.org/officeDocument/2006/relationships" id="260" r:id="Rd1305eb14df94705"/>
    <p:sldId xmlns:r="http://schemas.openxmlformats.org/officeDocument/2006/relationships" id="261" r:id="R5148c2700e904343"/>
    <p:sldId xmlns:r="http://schemas.openxmlformats.org/officeDocument/2006/relationships" id="262" r:id="Rb5be24c1cb314f6e"/>
    <p:sldId xmlns:r="http://schemas.openxmlformats.org/officeDocument/2006/relationships" id="263" r:id="R5b5a28b1cd054b67"/>
    <p:sldId xmlns:r="http://schemas.openxmlformats.org/officeDocument/2006/relationships" id="264" r:id="Rf5a4f5ee2d7b4ca2"/>
    <p:sldId xmlns:r="http://schemas.openxmlformats.org/officeDocument/2006/relationships" id="265" r:id="R823ba2025c1e4fd0"/>
    <p:sldId xmlns:r="http://schemas.openxmlformats.org/officeDocument/2006/relationships" id="266" r:id="R15e23421294a4e88"/>
    <p:sldId xmlns:r="http://schemas.openxmlformats.org/officeDocument/2006/relationships" id="267" r:id="Rb4c32f5601b940f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75943221bf484a" /><Relationship Type="http://schemas.openxmlformats.org/officeDocument/2006/relationships/slideMaster" Target="/ppt/slideMasters/slideMaster1.xml" Id="R225c6e6da4764469" /><Relationship Type="http://schemas.openxmlformats.org/officeDocument/2006/relationships/notesMaster" Target="/ppt/notesMasters/notesMaster1.xml" Id="R107334b5f09a462a" /><Relationship Type="http://schemas.openxmlformats.org/officeDocument/2006/relationships/presProps" Target="/ppt/presProps.xml" Id="R70a81fbaecca4d9f" /><Relationship Type="http://schemas.openxmlformats.org/officeDocument/2006/relationships/tableStyles" Target="/ppt/tableStyles.xml" Id="R076d39cf61104363" /><Relationship Type="http://schemas.openxmlformats.org/officeDocument/2006/relationships/slide" Target="/ppt/slides/slide1.xml" Id="Rc2bd81a8cfd64425" /><Relationship Type="http://schemas.openxmlformats.org/officeDocument/2006/relationships/slide" Target="/ppt/slides/slide2.xml" Id="R2c880c6cd6f24634" /><Relationship Type="http://schemas.openxmlformats.org/officeDocument/2006/relationships/slide" Target="/ppt/slides/slide3.xml" Id="Re2ca6818bc7245e1" /><Relationship Type="http://schemas.openxmlformats.org/officeDocument/2006/relationships/slide" Target="/ppt/slides/slide4.xml" Id="Ra2892168393c4a5c" /><Relationship Type="http://schemas.openxmlformats.org/officeDocument/2006/relationships/slide" Target="/ppt/slides/slide5.xml" Id="Rd1305eb14df94705" /><Relationship Type="http://schemas.openxmlformats.org/officeDocument/2006/relationships/slide" Target="/ppt/slides/slide6.xml" Id="R5148c2700e904343" /><Relationship Type="http://schemas.openxmlformats.org/officeDocument/2006/relationships/slide" Target="/ppt/slides/slide7.xml" Id="Rb5be24c1cb314f6e" /><Relationship Type="http://schemas.openxmlformats.org/officeDocument/2006/relationships/slide" Target="/ppt/slides/slide8.xml" Id="R5b5a28b1cd054b67" /><Relationship Type="http://schemas.openxmlformats.org/officeDocument/2006/relationships/slide" Target="/ppt/slides/slide9.xml" Id="Rf5a4f5ee2d7b4ca2" /><Relationship Type="http://schemas.openxmlformats.org/officeDocument/2006/relationships/slide" Target="/ppt/slides/slide10.xml" Id="R823ba2025c1e4fd0" /><Relationship Type="http://schemas.openxmlformats.org/officeDocument/2006/relationships/slide" Target="/ppt/slides/slide11.xml" Id="R15e23421294a4e88" /><Relationship Type="http://schemas.openxmlformats.org/officeDocument/2006/relationships/slide" Target="/ppt/slides/slide12.xml" Id="Rb4c32f5601b940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df7c354d564a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e6f1ead31d4c87" /><Relationship Type="http://schemas.openxmlformats.org/officeDocument/2006/relationships/notesMaster" Target="/ppt/notesMasters/notesMaster1.xml" Id="R8a2af503f6c345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a80ed9a60842b9" /><Relationship Type="http://schemas.openxmlformats.org/officeDocument/2006/relationships/notesMaster" Target="/ppt/notesMasters/notesMaster1.xml" Id="R4f6b457c325248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be567566ff4148" /><Relationship Type="http://schemas.openxmlformats.org/officeDocument/2006/relationships/notesMaster" Target="/ppt/notesMasters/notesMaster1.xml" Id="R220855d9cdc947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915820980940ff" /><Relationship Type="http://schemas.openxmlformats.org/officeDocument/2006/relationships/notesMaster" Target="/ppt/notesMasters/notesMaster1.xml" Id="R65dade0ed45c44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6fee0b538c42a8" /><Relationship Type="http://schemas.openxmlformats.org/officeDocument/2006/relationships/notesMaster" Target="/ppt/notesMasters/notesMaster1.xml" Id="R6ad119e2fd2449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eb8e03ee94413a" /><Relationship Type="http://schemas.openxmlformats.org/officeDocument/2006/relationships/notesMaster" Target="/ppt/notesMasters/notesMaster1.xml" Id="R2b663522648445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46b33ae7ec4fe3" /><Relationship Type="http://schemas.openxmlformats.org/officeDocument/2006/relationships/notesMaster" Target="/ppt/notesMasters/notesMaster1.xml" Id="Rd7bd4e87edc446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8c06edcc544a8f" /><Relationship Type="http://schemas.openxmlformats.org/officeDocument/2006/relationships/notesMaster" Target="/ppt/notesMasters/notesMaster1.xml" Id="R8d1150d0f6b440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be13f4ec794221" /><Relationship Type="http://schemas.openxmlformats.org/officeDocument/2006/relationships/notesMaster" Target="/ppt/notesMasters/notesMaster1.xml" Id="R0463e9c8e93241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f833e99500495d" /><Relationship Type="http://schemas.openxmlformats.org/officeDocument/2006/relationships/notesMaster" Target="/ppt/notesMasters/notesMaster1.xml" Id="R6af38cd791ed4f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920866fb404c73" /><Relationship Type="http://schemas.openxmlformats.org/officeDocument/2006/relationships/notesMaster" Target="/ppt/notesMasters/notesMaster1.xml" Id="R9eef3e8c9266453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5204c6547d54d62" /><Relationship Type="http://schemas.openxmlformats.org/officeDocument/2006/relationships/notesMaster" Target="/ppt/notesMasters/notesMaster1.xml" Id="Rff42864fc4be4c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2e4c5083254e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29b8f0553d47fa" /><Relationship Type="http://schemas.openxmlformats.org/officeDocument/2006/relationships/slideLayout" Target="/ppt/slideLayouts/slideLayout1.xml" Id="R2985ac8f1c8c42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85ac8f1c8c42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1af7c1e7cb46e9" /><Relationship Type="http://schemas.openxmlformats.org/officeDocument/2006/relationships/image" Target="/ppt/media/image.png" Id="R78c75864293344f3" /><Relationship Type="http://schemas.openxmlformats.org/officeDocument/2006/relationships/notesSlide" Target="/ppt/notesSlides/notesSlide1.xml" Id="Rf93d4decee0940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2627596ecc4352" /><Relationship Type="http://schemas.openxmlformats.org/officeDocument/2006/relationships/notesSlide" Target="/ppt/notesSlides/notesSlide2.xml" Id="R6a34ae17660843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d1128898bb4689" /><Relationship Type="http://schemas.openxmlformats.org/officeDocument/2006/relationships/notesSlide" Target="/ppt/notesSlides/notesSlide3.xml" Id="R19f4affb48f34e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6411c28f2041f3" /><Relationship Type="http://schemas.openxmlformats.org/officeDocument/2006/relationships/notesSlide" Target="/ppt/notesSlides/notesSlide4.xml" Id="R8b0ee7a43b1144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de836509014f6b" /><Relationship Type="http://schemas.openxmlformats.org/officeDocument/2006/relationships/notesSlide" Target="/ppt/notesSlides/notesSlide5.xml" Id="Rd56e222afbf94d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c85ab1b7a5642b6" /><Relationship Type="http://schemas.openxmlformats.org/officeDocument/2006/relationships/image" Target="/ppt/media/image2.png" Id="R502e01679d384d3b" /><Relationship Type="http://schemas.openxmlformats.org/officeDocument/2006/relationships/notesSlide" Target="/ppt/notesSlides/notesSlide6.xml" Id="R94c70a42f97e49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31f90fe2b8400e" /><Relationship Type="http://schemas.openxmlformats.org/officeDocument/2006/relationships/image" Target="/ppt/media/image3.png" Id="Ra3753cf48d094eb1" /><Relationship Type="http://schemas.openxmlformats.org/officeDocument/2006/relationships/image" Target="/ppt/media/image4.png" Id="R608804fb83b54835" /><Relationship Type="http://schemas.openxmlformats.org/officeDocument/2006/relationships/notesSlide" Target="/ppt/notesSlides/notesSlide7.xml" Id="R81483c13d8ec4f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9a802021ba4acd" /><Relationship Type="http://schemas.openxmlformats.org/officeDocument/2006/relationships/notesSlide" Target="/ppt/notesSlides/notesSlide8.xml" Id="R87b7f10887a94e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02fb0cc23f94ab5" /><Relationship Type="http://schemas.openxmlformats.org/officeDocument/2006/relationships/image" Target="/ppt/media/image5.png" Id="Rdb5042c3012f41e2" /><Relationship Type="http://schemas.openxmlformats.org/officeDocument/2006/relationships/notesSlide" Target="/ppt/notesSlides/notesSlide9.xml" Id="Rcfa49bad51cc4f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24a209db6647ec" /><Relationship Type="http://schemas.openxmlformats.org/officeDocument/2006/relationships/image" Target="/ppt/media/image6.png" Id="Rc6091f126b7b42b9" /><Relationship Type="http://schemas.openxmlformats.org/officeDocument/2006/relationships/notesSlide" Target="/ppt/notesSlides/notesSlide10.xml" Id="R6356ea6530b14d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a89b638f2641ab" /><Relationship Type="http://schemas.openxmlformats.org/officeDocument/2006/relationships/image" Target="/ppt/media/image7.png" Id="Rd262d4606df14fab" /><Relationship Type="http://schemas.openxmlformats.org/officeDocument/2006/relationships/notesSlide" Target="/ppt/notesSlides/notesSlide11.xml" Id="R0c6f7faafc8c4d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ba260510f274cc9" /><Relationship Type="http://schemas.openxmlformats.org/officeDocument/2006/relationships/notesSlide" Target="/ppt/notesSlides/notesSlide12.xml" Id="R04c18b5274104351"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EE0A94-365F-47B8-9D35-A44F9D0FBCCA}"/>
              </a:ext>
            </a:extLst>
          </p:cNvPr>
          <p:cNvSpPr>
            <a:spLocks xmlns:a="http://schemas.openxmlformats.org/drawingml/2006/main" noGrp="1"/>
          </p:cNvSpPr>
          <p:nvPr/>
        </p:nvSpPr>
        <p:spPr>
          <a:xfrm xmlns:a="http://schemas.openxmlformats.org/drawingml/2006/main">
            <a:off x="742950" y="1143000"/>
            <a:ext cx="685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020618"/>
                </a:solidFill>
              </a:defRPr>
            </a:pPr>
            <a:r>
              <a:rPr sz="3900" b="1">
                <a:solidFill>
                  <a:srgbClr val="020618"/>
                </a:solidFill>
              </a:rPr>
              <a:t>AI Agent hỗ trợ học</a:t>
            </a:r>
          </a:p>
          <a:p xmlns:a="http://schemas.openxmlformats.org/drawingml/2006/main">
            <a:pPr>
              <a:defRPr sz="3900" b="1">
                <a:solidFill>
                  <a:srgbClr val="020618"/>
                </a:solidFill>
              </a:defRPr>
            </a:pPr>
            <a:r>
              <a:rPr sz="3900" b="1">
                <a:solidFill>
                  <a:srgbClr val="020618"/>
                </a:solidFill>
              </a:rPr>
              <a:t>Cấu trúc dữ liệu và Giải thuật</a:t>
            </a:r>
          </a:p>
        </p:txBody>
      </p:sp>
      <p:sp>
        <p:nvSpPr>
          <p:cNvPr id="2" name="">
            <a:extLst xmlns:a="http://schemas.openxmlformats.org/drawingml/2006/main">
              <a:ext uri="{FF2B5EF4-FFF2-40B4-BE49-F238E27FC236}">
                <a16:creationId xmlns:a16="http://schemas.microsoft.com/office/drawing/2014/main" id="{D6CBD79C-5700-4C83-AF39-AAE5F4E39612}"/>
              </a:ext>
            </a:extLst>
          </p:cNvPr>
          <p:cNvSpPr>
            <a:spLocks xmlns:a="http://schemas.openxmlformats.org/drawingml/2006/main" noGrp="1"/>
          </p:cNvSpPr>
          <p:nvPr/>
        </p:nvSpPr>
        <p:spPr>
          <a:xfrm xmlns:a="http://schemas.openxmlformats.org/drawingml/2006/main">
            <a:off x="781050" y="278130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45556C"/>
                </a:solidFill>
              </a:defRPr>
            </a:pPr>
            <a:r>
              <a:rPr sz="1800" b="0">
                <a:solidFill>
                  <a:srgbClr val="45556C"/>
                </a:solidFill>
              </a:rPr>
              <a:t>LLM-powered multi-agent tutor theo phương pháp Socratic</a:t>
            </a:r>
          </a:p>
        </p:txBody>
      </p:sp>
      <p:sp>
        <p:nvSpPr>
          <p:cNvPr id="3" name="">
            <a:extLst xmlns:a="http://schemas.openxmlformats.org/drawingml/2006/main">
              <a:ext uri="{FF2B5EF4-FFF2-40B4-BE49-F238E27FC236}">
                <a16:creationId xmlns:a16="http://schemas.microsoft.com/office/drawing/2014/main" id="{A0A93389-3518-4B56-BD40-EF4B1728256A}"/>
              </a:ext>
            </a:extLst>
          </p:cNvPr>
          <p:cNvSpPr>
            <a:spLocks xmlns:a="http://schemas.openxmlformats.org/drawingml/2006/main" noGrp="1"/>
          </p:cNvSpPr>
          <p:nvPr/>
        </p:nvSpPr>
        <p:spPr>
          <a:xfrm xmlns:a="http://schemas.openxmlformats.org/drawingml/2006/main">
            <a:off x="781050" y="3638550"/>
            <a:ext cx="1047750" cy="361950"/>
          </a:xfrm>
          <a:prstGeom xmlns:a="http://schemas.openxmlformats.org/drawingml/2006/main" prst="roundRect">
            <a:avLst>
              <a:gd name="adj" fmla="val 31579"/>
            </a:avLst>
          </a:prstGeom>
          <a:solidFill xmlns:a="http://schemas.openxmlformats.org/drawingml/2006/main">
            <a:srgbClr val="EAF2FF"/>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F4E79"/>
                </a:solidFill>
              </a:defRPr>
            </a:pPr>
            <a:r>
              <a:rPr sz="1200" b="1">
                <a:solidFill>
                  <a:srgbClr val="1F4E79"/>
                </a:solidFill>
              </a:rPr>
              <a:t>Python</a:t>
            </a:r>
          </a:p>
        </p:txBody>
      </p:sp>
      <p:sp>
        <p:nvSpPr>
          <p:cNvPr id="4" name="">
            <a:extLst xmlns:a="http://schemas.openxmlformats.org/drawingml/2006/main">
              <a:ext uri="{FF2B5EF4-FFF2-40B4-BE49-F238E27FC236}">
                <a16:creationId xmlns:a16="http://schemas.microsoft.com/office/drawing/2014/main" id="{1440D698-EA0B-43B1-B21D-E8A4F801B246}"/>
              </a:ext>
            </a:extLst>
          </p:cNvPr>
          <p:cNvSpPr>
            <a:spLocks xmlns:a="http://schemas.openxmlformats.org/drawingml/2006/main" noGrp="1"/>
          </p:cNvSpPr>
          <p:nvPr/>
        </p:nvSpPr>
        <p:spPr>
          <a:xfrm xmlns:a="http://schemas.openxmlformats.org/drawingml/2006/main">
            <a:off x="2000250" y="3638550"/>
            <a:ext cx="1428750" cy="361950"/>
          </a:xfrm>
          <a:prstGeom xmlns:a="http://schemas.openxmlformats.org/drawingml/2006/main" prst="roundRect">
            <a:avLst>
              <a:gd name="adj" fmla="val 31579"/>
            </a:avLst>
          </a:prstGeom>
          <a:solidFill xmlns:a="http://schemas.openxmlformats.org/drawingml/2006/main">
            <a:srgbClr val="EAF2FF"/>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F4E79"/>
                </a:solidFill>
              </a:defRPr>
            </a:pPr>
            <a:r>
              <a:rPr sz="1200" b="1">
                <a:solidFill>
                  <a:srgbClr val="1F4E79"/>
                </a:solidFill>
              </a:rPr>
              <a:t>LangGraph</a:t>
            </a:r>
          </a:p>
        </p:txBody>
      </p:sp>
      <p:sp>
        <p:nvSpPr>
          <p:cNvPr id="5" name="">
            <a:extLst xmlns:a="http://schemas.openxmlformats.org/drawingml/2006/main">
              <a:ext uri="{FF2B5EF4-FFF2-40B4-BE49-F238E27FC236}">
                <a16:creationId xmlns:a16="http://schemas.microsoft.com/office/drawing/2014/main" id="{8568F626-1F3B-4D5D-AE6C-C56700B4E041}"/>
              </a:ext>
            </a:extLst>
          </p:cNvPr>
          <p:cNvSpPr>
            <a:spLocks xmlns:a="http://schemas.openxmlformats.org/drawingml/2006/main" noGrp="1"/>
          </p:cNvSpPr>
          <p:nvPr/>
        </p:nvSpPr>
        <p:spPr>
          <a:xfrm xmlns:a="http://schemas.openxmlformats.org/drawingml/2006/main">
            <a:off x="3600450" y="3638550"/>
            <a:ext cx="1428750" cy="361950"/>
          </a:xfrm>
          <a:prstGeom xmlns:a="http://schemas.openxmlformats.org/drawingml/2006/main" prst="roundRect">
            <a:avLst>
              <a:gd name="adj" fmla="val 31579"/>
            </a:avLst>
          </a:prstGeom>
          <a:solidFill xmlns:a="http://schemas.openxmlformats.org/drawingml/2006/main">
            <a:srgbClr val="EAF2FF"/>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F4E79"/>
                </a:solidFill>
              </a:defRPr>
            </a:pPr>
            <a:r>
              <a:rPr sz="1200" b="1">
                <a:solidFill>
                  <a:srgbClr val="1F4E79"/>
                </a:solidFill>
              </a:rPr>
              <a:t>Gemini API</a:t>
            </a:r>
          </a:p>
        </p:txBody>
      </p:sp>
      <p:sp>
        <p:nvSpPr>
          <p:cNvPr id="6" name="">
            <a:extLst xmlns:a="http://schemas.openxmlformats.org/drawingml/2006/main">
              <a:ext uri="{FF2B5EF4-FFF2-40B4-BE49-F238E27FC236}">
                <a16:creationId xmlns:a16="http://schemas.microsoft.com/office/drawing/2014/main" id="{411F9A43-D4F9-46C0-ABEE-CE6A3951A42D}"/>
              </a:ext>
            </a:extLst>
          </p:cNvPr>
          <p:cNvSpPr>
            <a:spLocks xmlns:a="http://schemas.openxmlformats.org/drawingml/2006/main" noGrp="1"/>
          </p:cNvSpPr>
          <p:nvPr/>
        </p:nvSpPr>
        <p:spPr>
          <a:xfrm xmlns:a="http://schemas.openxmlformats.org/drawingml/2006/main">
            <a:off x="5200650" y="3638550"/>
            <a:ext cx="1333500" cy="361950"/>
          </a:xfrm>
          <a:prstGeom xmlns:a="http://schemas.openxmlformats.org/drawingml/2006/main" prst="roundRect">
            <a:avLst>
              <a:gd name="adj" fmla="val 31579"/>
            </a:avLst>
          </a:prstGeom>
          <a:solidFill xmlns:a="http://schemas.openxmlformats.org/drawingml/2006/main">
            <a:srgbClr val="EAF2FF"/>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F4E79"/>
                </a:solidFill>
              </a:defRPr>
            </a:pPr>
            <a:r>
              <a:rPr sz="1200" b="1">
                <a:solidFill>
                  <a:srgbClr val="1F4E79"/>
                </a:solidFill>
              </a:rPr>
              <a:t>Streamlit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8c75864293344f3"/>
          <a:stretch xmlns:a="http://schemas.openxmlformats.org/drawingml/2006/main"/>
        </p:blipFill>
        <p:spPr>
          <a:xfrm xmlns:a="http://schemas.openxmlformats.org/drawingml/2006/main">
            <a:off x="7239000" y="1863196"/>
            <a:ext cx="4095750" cy="2502958"/>
          </a:xfrm>
          <a:prstGeom xmlns:a="http://schemas.openxmlformats.org/drawingml/2006/main" prst="roundRect">
            <a:avLst>
              <a:gd name="adj" fmla="val 2791"/>
            </a:avLst>
          </a:prstGeom>
        </p:spPr>
      </p:pic>
      <p:sp>
        <p:nvSpPr>
          <p:cNvPr id="8" name="">
            <a:extLst xmlns:a="http://schemas.openxmlformats.org/drawingml/2006/main">
              <a:ext uri="{FF2B5EF4-FFF2-40B4-BE49-F238E27FC236}">
                <a16:creationId xmlns:a16="http://schemas.microsoft.com/office/drawing/2014/main" id="{879A8A48-5250-490C-BA71-E2EEB96830BF}"/>
              </a:ext>
            </a:extLst>
          </p:cNvPr>
          <p:cNvSpPr>
            <a:spLocks xmlns:a="http://schemas.openxmlformats.org/drawingml/2006/main" noGrp="1"/>
          </p:cNvSpPr>
          <p:nvPr/>
        </p:nvSpPr>
        <p:spPr>
          <a:xfrm xmlns:a="http://schemas.openxmlformats.org/drawingml/2006/main">
            <a:off x="1104900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90A1B9"/>
                </a:solidFill>
              </a:defRPr>
            </a:pPr>
            <a:r>
              <a:rPr sz="1050" b="0">
                <a:solidFill>
                  <a:srgbClr val="90A1B9"/>
                </a:solidFill>
              </a:rPr>
              <a:t>01</a:t>
            </a:r>
          </a:p>
        </p:txBody>
      </p:sp>
    </p:spTree>
    <p:extLst>
      <p:ext uri="{BB962C8B-B14F-4D97-AF65-F5344CB8AC3E}">
        <p14:creationId xmlns:p14="http://schemas.microsoft.com/office/powerpoint/2010/main" val="12808082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3FA3AF0-3763-4646-B5C6-4B117719E61D}"/>
              </a:ext>
            </a:extLst>
          </p:cNvPr>
          <p:cNvSpPr>
            <a:spLocks xmlns:a="http://schemas.openxmlformats.org/drawingml/2006/main" noGrp="1"/>
          </p:cNvSpPr>
          <p:nvPr/>
        </p:nvSpPr>
        <p:spPr>
          <a:xfrm xmlns:a="http://schemas.openxmlformats.org/drawingml/2006/main">
            <a:off x="666750" y="3429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F4E79"/>
                </a:solidFill>
              </a:defRPr>
            </a:pPr>
            <a:r>
              <a:rPr sz="1050" b="1">
                <a:solidFill>
                  <a:srgbClr val="1F4E79"/>
                </a:solidFill>
              </a:rPr>
              <a:t>DSA SOCRATIC AGENT</a:t>
            </a:r>
          </a:p>
        </p:txBody>
      </p:sp>
      <p:sp>
        <p:nvSpPr>
          <p:cNvPr id="2" name="">
            <a:extLst xmlns:a="http://schemas.openxmlformats.org/drawingml/2006/main">
              <a:ext uri="{FF2B5EF4-FFF2-40B4-BE49-F238E27FC236}">
                <a16:creationId xmlns:a16="http://schemas.microsoft.com/office/drawing/2014/main" id="{E96DBD09-B7E7-413F-8980-3C7AE0A2CC1F}"/>
              </a:ext>
            </a:extLst>
          </p:cNvPr>
          <p:cNvSpPr>
            <a:spLocks xmlns:a="http://schemas.openxmlformats.org/drawingml/2006/main" noGrp="1"/>
          </p:cNvSpPr>
          <p:nvPr/>
        </p:nvSpPr>
        <p:spPr>
          <a:xfrm xmlns:a="http://schemas.openxmlformats.org/drawingml/2006/main">
            <a:off x="666750" y="6858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20618"/>
                </a:solidFill>
              </a:defRPr>
            </a:pPr>
            <a:r>
              <a:rPr sz="2850" b="1">
                <a:solidFill>
                  <a:srgbClr val="020618"/>
                </a:solidFill>
              </a:rPr>
              <a:t>Vấn đề và hướng tiếp cận</a:t>
            </a:r>
          </a:p>
        </p:txBody>
      </p:sp>
      <p:sp>
        <p:nvSpPr>
          <p:cNvPr id="3" name="">
            <a:extLst xmlns:a="http://schemas.openxmlformats.org/drawingml/2006/main">
              <a:ext uri="{FF2B5EF4-FFF2-40B4-BE49-F238E27FC236}">
                <a16:creationId xmlns:a16="http://schemas.microsoft.com/office/drawing/2014/main" id="{9C796442-6D81-4D2A-8693-BEDBDCF599D5}"/>
              </a:ext>
            </a:extLst>
          </p:cNvPr>
          <p:cNvSpPr>
            <a:spLocks xmlns:a="http://schemas.openxmlformats.org/drawingml/2006/main" noGrp="1"/>
          </p:cNvSpPr>
          <p:nvPr/>
        </p:nvSpPr>
        <p:spPr>
          <a:xfrm xmlns:a="http://schemas.openxmlformats.org/drawingml/2006/main">
            <a:off x="762000" y="1619250"/>
            <a:ext cx="3238500" cy="2857500"/>
          </a:xfrm>
          <a:prstGeom xmlns:a="http://schemas.openxmlformats.org/drawingml/2006/main" prst="roundRect">
            <a:avLst>
              <a:gd name="adj" fmla="val 4000"/>
            </a:avLst>
          </a:prstGeom>
          <a:solidFill xmlns:a="http://schemas.openxmlformats.org/drawingml/2006/main">
            <a:srgbClr val="FFF7E6"/>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83A436BD-3B58-4B0E-BB45-6C018EA799AE}"/>
              </a:ext>
            </a:extLst>
          </p:cNvPr>
          <p:cNvSpPr>
            <a:spLocks xmlns:a="http://schemas.openxmlformats.org/drawingml/2006/main" noGrp="1"/>
          </p:cNvSpPr>
          <p:nvPr/>
        </p:nvSpPr>
        <p:spPr>
          <a:xfrm xmlns:a="http://schemas.openxmlformats.org/drawingml/2006/main">
            <a:off x="990600" y="17907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Khó khăn khi học DSA</a:t>
            </a:r>
          </a:p>
        </p:txBody>
      </p:sp>
      <p:sp>
        <p:nvSpPr>
          <p:cNvPr id="5" name="">
            <a:extLst xmlns:a="http://schemas.openxmlformats.org/drawingml/2006/main">
              <a:ext uri="{FF2B5EF4-FFF2-40B4-BE49-F238E27FC236}">
                <a16:creationId xmlns:a16="http://schemas.microsoft.com/office/drawing/2014/main" id="{5736E891-49A3-4D5C-9C3C-07A6E45E3A00}"/>
              </a:ext>
            </a:extLst>
          </p:cNvPr>
          <p:cNvSpPr>
            <a:spLocks xmlns:a="http://schemas.openxmlformats.org/drawingml/2006/main" noGrp="1"/>
          </p:cNvSpPr>
          <p:nvPr/>
        </p:nvSpPr>
        <p:spPr>
          <a:xfrm xmlns:a="http://schemas.openxmlformats.org/drawingml/2006/main">
            <a:off x="990600" y="2209800"/>
            <a:ext cx="27813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Người học không chỉ cần đáp án, mà cần biết phân tích đề, chọn cấu trúc dữ liệu, trace edge case và đánh giá độ phức tạp.</a:t>
            </a:r>
          </a:p>
        </p:txBody>
      </p:sp>
      <p:sp>
        <p:nvSpPr>
          <p:cNvPr id="6" name="">
            <a:extLst xmlns:a="http://schemas.openxmlformats.org/drawingml/2006/main">
              <a:ext uri="{FF2B5EF4-FFF2-40B4-BE49-F238E27FC236}">
                <a16:creationId xmlns:a16="http://schemas.microsoft.com/office/drawing/2014/main" id="{59DA1EF9-FBFC-4BB6-A99B-16B55601E6F5}"/>
              </a:ext>
            </a:extLst>
          </p:cNvPr>
          <p:cNvSpPr>
            <a:spLocks xmlns:a="http://schemas.openxmlformats.org/drawingml/2006/main" noGrp="1"/>
          </p:cNvSpPr>
          <p:nvPr/>
        </p:nvSpPr>
        <p:spPr>
          <a:xfrm xmlns:a="http://schemas.openxmlformats.org/drawingml/2006/main">
            <a:off x="4476750" y="1619250"/>
            <a:ext cx="3238500" cy="2857500"/>
          </a:xfrm>
          <a:prstGeom xmlns:a="http://schemas.openxmlformats.org/drawingml/2006/main" prst="roundRect">
            <a:avLst>
              <a:gd name="adj" fmla="val 4000"/>
            </a:avLst>
          </a:prstGeom>
          <a:solidFill xmlns:a="http://schemas.openxmlformats.org/drawingml/2006/main">
            <a:srgbClr val="F1EAFE"/>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43B5453-8A52-4742-80CA-039CEA8D8B05}"/>
              </a:ext>
            </a:extLst>
          </p:cNvPr>
          <p:cNvSpPr>
            <a:spLocks xmlns:a="http://schemas.openxmlformats.org/drawingml/2006/main" noGrp="1"/>
          </p:cNvSpPr>
          <p:nvPr/>
        </p:nvSpPr>
        <p:spPr>
          <a:xfrm xmlns:a="http://schemas.openxmlformats.org/drawingml/2006/main">
            <a:off x="4705350" y="17907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Hạn chế của chatbot thường</a:t>
            </a:r>
          </a:p>
        </p:txBody>
      </p:sp>
      <p:sp>
        <p:nvSpPr>
          <p:cNvPr id="8" name="">
            <a:extLst xmlns:a="http://schemas.openxmlformats.org/drawingml/2006/main">
              <a:ext uri="{FF2B5EF4-FFF2-40B4-BE49-F238E27FC236}">
                <a16:creationId xmlns:a16="http://schemas.microsoft.com/office/drawing/2014/main" id="{41869745-B42C-4D66-874F-2C1AF0C9D0D0}"/>
              </a:ext>
            </a:extLst>
          </p:cNvPr>
          <p:cNvSpPr>
            <a:spLocks xmlns:a="http://schemas.openxmlformats.org/drawingml/2006/main" noGrp="1"/>
          </p:cNvSpPr>
          <p:nvPr/>
        </p:nvSpPr>
        <p:spPr>
          <a:xfrm xmlns:a="http://schemas.openxmlformats.org/drawingml/2006/main">
            <a:off x="4705350" y="2209800"/>
            <a:ext cx="27813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Dễ trả lời trực tiếp, thiếu trạng thái học tập và khó kiểm soát mức độ gợi ý.</a:t>
            </a:r>
          </a:p>
        </p:txBody>
      </p:sp>
      <p:sp>
        <p:nvSpPr>
          <p:cNvPr id="9" name="">
            <a:extLst xmlns:a="http://schemas.openxmlformats.org/drawingml/2006/main">
              <a:ext uri="{FF2B5EF4-FFF2-40B4-BE49-F238E27FC236}">
                <a16:creationId xmlns:a16="http://schemas.microsoft.com/office/drawing/2014/main" id="{D5E40BA5-6CC0-4613-B167-19090083AE9C}"/>
              </a:ext>
            </a:extLst>
          </p:cNvPr>
          <p:cNvSpPr>
            <a:spLocks xmlns:a="http://schemas.openxmlformats.org/drawingml/2006/main" noGrp="1"/>
          </p:cNvSpPr>
          <p:nvPr/>
        </p:nvSpPr>
        <p:spPr>
          <a:xfrm xmlns:a="http://schemas.openxmlformats.org/drawingml/2006/main">
            <a:off x="8191500" y="1619250"/>
            <a:ext cx="3238500" cy="2857500"/>
          </a:xfrm>
          <a:prstGeom xmlns:a="http://schemas.openxmlformats.org/drawingml/2006/main" prst="roundRect">
            <a:avLst>
              <a:gd name="adj" fmla="val 4000"/>
            </a:avLst>
          </a:prstGeom>
          <a:solidFill xmlns:a="http://schemas.openxmlformats.org/drawingml/2006/main">
            <a:srgbClr val="EAF7EE"/>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826D641-3BB1-4BE6-8C1D-24356513DC97}"/>
              </a:ext>
            </a:extLst>
          </p:cNvPr>
          <p:cNvSpPr>
            <a:spLocks xmlns:a="http://schemas.openxmlformats.org/drawingml/2006/main" noGrp="1"/>
          </p:cNvSpPr>
          <p:nvPr/>
        </p:nvSpPr>
        <p:spPr>
          <a:xfrm xmlns:a="http://schemas.openxmlformats.org/drawingml/2006/main">
            <a:off x="8420100" y="17907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Hướng giải quyết</a:t>
            </a:r>
          </a:p>
        </p:txBody>
      </p:sp>
      <p:sp>
        <p:nvSpPr>
          <p:cNvPr id="11" name="">
            <a:extLst xmlns:a="http://schemas.openxmlformats.org/drawingml/2006/main">
              <a:ext uri="{FF2B5EF4-FFF2-40B4-BE49-F238E27FC236}">
                <a16:creationId xmlns:a16="http://schemas.microsoft.com/office/drawing/2014/main" id="{D415A542-959F-46B5-90B9-AF22784F4215}"/>
              </a:ext>
            </a:extLst>
          </p:cNvPr>
          <p:cNvSpPr>
            <a:spLocks xmlns:a="http://schemas.openxmlformats.org/drawingml/2006/main" noGrp="1"/>
          </p:cNvSpPr>
          <p:nvPr/>
        </p:nvSpPr>
        <p:spPr>
          <a:xfrm xmlns:a="http://schemas.openxmlformats.org/drawingml/2006/main">
            <a:off x="8420100" y="2209800"/>
            <a:ext cx="27813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Thiết kế tutor agent theo Socratic, có workflow, state và quality layer để dẫn dắt thay vì làm hộ.</a:t>
            </a:r>
          </a:p>
        </p:txBody>
      </p:sp>
      <p:sp>
        <p:nvSpPr>
          <p:cNvPr id="12" name="">
            <a:extLst xmlns:a="http://schemas.openxmlformats.org/drawingml/2006/main">
              <a:ext uri="{FF2B5EF4-FFF2-40B4-BE49-F238E27FC236}">
                <a16:creationId xmlns:a16="http://schemas.microsoft.com/office/drawing/2014/main" id="{BFF94D0E-764D-4279-8A5A-54CE1F6C4039}"/>
              </a:ext>
            </a:extLst>
          </p:cNvPr>
          <p:cNvSpPr>
            <a:spLocks xmlns:a="http://schemas.openxmlformats.org/drawingml/2006/main" noGrp="1"/>
          </p:cNvSpPr>
          <p:nvPr/>
        </p:nvSpPr>
        <p:spPr>
          <a:xfrm xmlns:a="http://schemas.openxmlformats.org/drawingml/2006/main">
            <a:off x="1104900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90A1B9"/>
                </a:solidFill>
              </a:defRPr>
            </a:pPr>
            <a:r>
              <a:rPr sz="1050" b="0">
                <a:solidFill>
                  <a:srgbClr val="90A1B9"/>
                </a:solidFill>
              </a:rPr>
              <a:t>02</a:t>
            </a:r>
          </a:p>
        </p:txBody>
      </p:sp>
    </p:spTree>
    <p:extLst>
      <p:ext uri="{BB962C8B-B14F-4D97-AF65-F5344CB8AC3E}">
        <p14:creationId xmlns:p14="http://schemas.microsoft.com/office/powerpoint/2010/main" val="660004483"/>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0B3677-1A30-49D9-BC8B-6DC4566157D8}"/>
              </a:ext>
            </a:extLst>
          </p:cNvPr>
          <p:cNvSpPr>
            <a:spLocks xmlns:a="http://schemas.openxmlformats.org/drawingml/2006/main" noGrp="1"/>
          </p:cNvSpPr>
          <p:nvPr/>
        </p:nvSpPr>
        <p:spPr>
          <a:xfrm xmlns:a="http://schemas.openxmlformats.org/drawingml/2006/main">
            <a:off x="666750" y="3429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F4E79"/>
                </a:solidFill>
              </a:defRPr>
            </a:pPr>
            <a:r>
              <a:rPr sz="1050" b="1">
                <a:solidFill>
                  <a:srgbClr val="1F4E79"/>
                </a:solidFill>
              </a:rPr>
              <a:t>DSA SOCRATIC AGENT</a:t>
            </a:r>
          </a:p>
        </p:txBody>
      </p:sp>
      <p:sp>
        <p:nvSpPr>
          <p:cNvPr id="2" name="">
            <a:extLst xmlns:a="http://schemas.openxmlformats.org/drawingml/2006/main">
              <a:ext uri="{FF2B5EF4-FFF2-40B4-BE49-F238E27FC236}">
                <a16:creationId xmlns:a16="http://schemas.microsoft.com/office/drawing/2014/main" id="{618B59CF-5F75-45D4-BF2B-28C5C149C7B5}"/>
              </a:ext>
            </a:extLst>
          </p:cNvPr>
          <p:cNvSpPr>
            <a:spLocks xmlns:a="http://schemas.openxmlformats.org/drawingml/2006/main" noGrp="1"/>
          </p:cNvSpPr>
          <p:nvPr/>
        </p:nvSpPr>
        <p:spPr>
          <a:xfrm xmlns:a="http://schemas.openxmlformats.org/drawingml/2006/main">
            <a:off x="666750" y="6858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20618"/>
                </a:solidFill>
              </a:defRPr>
            </a:pPr>
            <a:r>
              <a:rPr sz="2850" b="1">
                <a:solidFill>
                  <a:srgbClr val="020618"/>
                </a:solidFill>
              </a:rPr>
              <a:t>Cơ sở lý thuyết</a:t>
            </a:r>
          </a:p>
        </p:txBody>
      </p:sp>
      <p:sp>
        <p:nvSpPr>
          <p:cNvPr id="3" name="">
            <a:extLst xmlns:a="http://schemas.openxmlformats.org/drawingml/2006/main">
              <a:ext uri="{FF2B5EF4-FFF2-40B4-BE49-F238E27FC236}">
                <a16:creationId xmlns:a16="http://schemas.microsoft.com/office/drawing/2014/main" id="{056B05D8-E12F-4183-B26E-4E45838E0381}"/>
              </a:ext>
            </a:extLst>
          </p:cNvPr>
          <p:cNvSpPr>
            <a:spLocks xmlns:a="http://schemas.openxmlformats.org/drawingml/2006/main" noGrp="1"/>
          </p:cNvSpPr>
          <p:nvPr/>
        </p:nvSpPr>
        <p:spPr>
          <a:xfrm xmlns:a="http://schemas.openxmlformats.org/drawingml/2006/main">
            <a:off x="876300" y="1619250"/>
            <a:ext cx="619125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020618"/>
                </a:solidFill>
              </a:defRPr>
            </a:pPr>
            <a:r>
              <a:rPr sz="1800" b="0">
                <a:solidFill>
                  <a:srgbClr val="020618"/>
                </a:solidFill>
              </a:rPr>
              <a:t>• Socratic tutoring: đặt câu hỏi gợi mở thay vì đưa lời giải hoàn chỉnh.</a:t>
            </a:r>
          </a:p>
          <a:p xmlns:a="http://schemas.openxmlformats.org/drawingml/2006/main">
            <a:pPr>
              <a:defRPr sz="1800" b="0">
                <a:solidFill>
                  <a:srgbClr val="020618"/>
                </a:solidFill>
              </a:defRPr>
            </a:pPr>
            <a:r>
              <a:rPr sz="1800" b="0">
                <a:solidFill>
                  <a:srgbClr val="020618"/>
                </a:solidFill>
              </a:rPr>
              <a:t>• LLM Agent: dùng LLM trong workflow có state và policy kiểm soát.</a:t>
            </a:r>
          </a:p>
          <a:p xmlns:a="http://schemas.openxmlformats.org/drawingml/2006/main">
            <a:pPr>
              <a:defRPr sz="1800" b="0">
                <a:solidFill>
                  <a:srgbClr val="020618"/>
                </a:solidFill>
              </a:defRPr>
            </a:pPr>
            <a:r>
              <a:rPr sz="1800" b="0">
                <a:solidFill>
                  <a:srgbClr val="020618"/>
                </a:solidFill>
              </a:rPr>
              <a:t>• Multi-agent: chia nhiệm vụ thành các agent chuyên trách.</a:t>
            </a:r>
          </a:p>
          <a:p xmlns:a="http://schemas.openxmlformats.org/drawingml/2006/main">
            <a:pPr>
              <a:defRPr sz="1800" b="0">
                <a:solidFill>
                  <a:srgbClr val="020618"/>
                </a:solidFill>
              </a:defRPr>
            </a:pPr>
            <a:r>
              <a:rPr sz="1800" b="0">
                <a:solidFill>
                  <a:srgbClr val="020618"/>
                </a:solidFill>
              </a:rPr>
              <a:t>• Testcase trong học thuật toán: hỗ trợ trace, phát hiện edge case và kiểm giả định.</a:t>
            </a:r>
          </a:p>
        </p:txBody>
      </p:sp>
      <p:sp>
        <p:nvSpPr>
          <p:cNvPr id="4" name="">
            <a:extLst xmlns:a="http://schemas.openxmlformats.org/drawingml/2006/main">
              <a:ext uri="{FF2B5EF4-FFF2-40B4-BE49-F238E27FC236}">
                <a16:creationId xmlns:a16="http://schemas.microsoft.com/office/drawing/2014/main" id="{845607D2-C60B-4622-B2C0-DA8533731EA6}"/>
              </a:ext>
            </a:extLst>
          </p:cNvPr>
          <p:cNvSpPr>
            <a:spLocks xmlns:a="http://schemas.openxmlformats.org/drawingml/2006/main" noGrp="1"/>
          </p:cNvSpPr>
          <p:nvPr/>
        </p:nvSpPr>
        <p:spPr>
          <a:xfrm xmlns:a="http://schemas.openxmlformats.org/drawingml/2006/main">
            <a:off x="7667625" y="1666875"/>
            <a:ext cx="3286125" cy="2381250"/>
          </a:xfrm>
          <a:prstGeom xmlns:a="http://schemas.openxmlformats.org/drawingml/2006/main" prst="roundRect">
            <a:avLst>
              <a:gd name="adj" fmla="val 4800"/>
            </a:avLst>
          </a:prstGeom>
          <a:solidFill xmlns:a="http://schemas.openxmlformats.org/drawingml/2006/main">
            <a:srgbClr val="EAF2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988A5B14-5445-4A27-BFB1-1AAC3F7513CB}"/>
              </a:ext>
            </a:extLst>
          </p:cNvPr>
          <p:cNvSpPr>
            <a:spLocks xmlns:a="http://schemas.openxmlformats.org/drawingml/2006/main" noGrp="1"/>
          </p:cNvSpPr>
          <p:nvPr/>
        </p:nvSpPr>
        <p:spPr>
          <a:xfrm xmlns:a="http://schemas.openxmlformats.org/drawingml/2006/main">
            <a:off x="7896225" y="1838325"/>
            <a:ext cx="2828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Nguyên tắc phản hồi</a:t>
            </a:r>
          </a:p>
        </p:txBody>
      </p:sp>
      <p:sp>
        <p:nvSpPr>
          <p:cNvPr id="6" name="">
            <a:extLst xmlns:a="http://schemas.openxmlformats.org/drawingml/2006/main">
              <a:ext uri="{FF2B5EF4-FFF2-40B4-BE49-F238E27FC236}">
                <a16:creationId xmlns:a16="http://schemas.microsoft.com/office/drawing/2014/main" id="{362C0113-D5E4-4851-9494-6AC86F3AB4A5}"/>
              </a:ext>
            </a:extLst>
          </p:cNvPr>
          <p:cNvSpPr>
            <a:spLocks xmlns:a="http://schemas.openxmlformats.org/drawingml/2006/main" noGrp="1"/>
          </p:cNvSpPr>
          <p:nvPr/>
        </p:nvSpPr>
        <p:spPr>
          <a:xfrm xmlns:a="http://schemas.openxmlformats.org/drawingml/2006/main">
            <a:off x="7896225" y="2257425"/>
            <a:ext cx="2828925"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Mỗi lượt chỉ tập trung 1-2 gợi ý chính; tăng dần hint_level; không đưa full code trong chế độ mặc định.</a:t>
            </a:r>
          </a:p>
        </p:txBody>
      </p:sp>
      <p:sp>
        <p:nvSpPr>
          <p:cNvPr id="7" name="">
            <a:extLst xmlns:a="http://schemas.openxmlformats.org/drawingml/2006/main">
              <a:ext uri="{FF2B5EF4-FFF2-40B4-BE49-F238E27FC236}">
                <a16:creationId xmlns:a16="http://schemas.microsoft.com/office/drawing/2014/main" id="{A186A09B-F0D5-4ABC-8451-486BAE6EC8E0}"/>
              </a:ext>
            </a:extLst>
          </p:cNvPr>
          <p:cNvSpPr>
            <a:spLocks xmlns:a="http://schemas.openxmlformats.org/drawingml/2006/main" noGrp="1"/>
          </p:cNvSpPr>
          <p:nvPr/>
        </p:nvSpPr>
        <p:spPr>
          <a:xfrm xmlns:a="http://schemas.openxmlformats.org/drawingml/2006/main">
            <a:off x="1104900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90A1B9"/>
                </a:solidFill>
              </a:defRPr>
            </a:pPr>
            <a:r>
              <a:rPr sz="1050" b="0">
                <a:solidFill>
                  <a:srgbClr val="90A1B9"/>
                </a:solidFill>
              </a:rPr>
              <a:t>03</a:t>
            </a:r>
          </a:p>
        </p:txBody>
      </p:sp>
    </p:spTree>
    <p:extLst>
      <p:ext uri="{BB962C8B-B14F-4D97-AF65-F5344CB8AC3E}">
        <p14:creationId xmlns:p14="http://schemas.microsoft.com/office/powerpoint/2010/main" val="8253024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FF5E8C-DA65-4CC9-8F7F-73FA7DA50C61}"/>
              </a:ext>
            </a:extLst>
          </p:cNvPr>
          <p:cNvSpPr>
            <a:spLocks xmlns:a="http://schemas.openxmlformats.org/drawingml/2006/main" noGrp="1"/>
          </p:cNvSpPr>
          <p:nvPr/>
        </p:nvSpPr>
        <p:spPr>
          <a:xfrm xmlns:a="http://schemas.openxmlformats.org/drawingml/2006/main">
            <a:off x="666750" y="3429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F4E79"/>
                </a:solidFill>
              </a:defRPr>
            </a:pPr>
            <a:r>
              <a:rPr sz="1050" b="1">
                <a:solidFill>
                  <a:srgbClr val="1F4E79"/>
                </a:solidFill>
              </a:rPr>
              <a:t>DSA SOCRATIC AGENT</a:t>
            </a:r>
          </a:p>
        </p:txBody>
      </p:sp>
      <p:sp>
        <p:nvSpPr>
          <p:cNvPr id="2" name="">
            <a:extLst xmlns:a="http://schemas.openxmlformats.org/drawingml/2006/main">
              <a:ext uri="{FF2B5EF4-FFF2-40B4-BE49-F238E27FC236}">
                <a16:creationId xmlns:a16="http://schemas.microsoft.com/office/drawing/2014/main" id="{9A57616F-5AB3-4C6D-9CEB-6064B37EB751}"/>
              </a:ext>
            </a:extLst>
          </p:cNvPr>
          <p:cNvSpPr>
            <a:spLocks xmlns:a="http://schemas.openxmlformats.org/drawingml/2006/main" noGrp="1"/>
          </p:cNvSpPr>
          <p:nvPr/>
        </p:nvSpPr>
        <p:spPr>
          <a:xfrm xmlns:a="http://schemas.openxmlformats.org/drawingml/2006/main">
            <a:off x="666750" y="6858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20618"/>
                </a:solidFill>
              </a:defRPr>
            </a:pPr>
            <a:r>
              <a:rPr sz="2850" b="1">
                <a:solidFill>
                  <a:srgbClr val="020618"/>
                </a:solidFill>
              </a:rPr>
              <a:t>Mục tiêu hệ thống</a:t>
            </a:r>
          </a:p>
        </p:txBody>
      </p:sp>
      <p:sp>
        <p:nvSpPr>
          <p:cNvPr id="3" name="">
            <a:extLst xmlns:a="http://schemas.openxmlformats.org/drawingml/2006/main">
              <a:ext uri="{FF2B5EF4-FFF2-40B4-BE49-F238E27FC236}">
                <a16:creationId xmlns:a16="http://schemas.microsoft.com/office/drawing/2014/main" id="{0112400A-04DE-4B25-9F71-D9AE87A02C33}"/>
              </a:ext>
            </a:extLst>
          </p:cNvPr>
          <p:cNvSpPr>
            <a:spLocks xmlns:a="http://schemas.openxmlformats.org/drawingml/2006/main" noGrp="1"/>
          </p:cNvSpPr>
          <p:nvPr/>
        </p:nvSpPr>
        <p:spPr>
          <a:xfrm xmlns:a="http://schemas.openxmlformats.org/drawingml/2006/main">
            <a:off x="809625" y="1571625"/>
            <a:ext cx="3238500"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F23CA557-80D7-4E30-8AFA-46F72CE59E4F}"/>
              </a:ext>
            </a:extLst>
          </p:cNvPr>
          <p:cNvSpPr>
            <a:spLocks xmlns:a="http://schemas.openxmlformats.org/drawingml/2006/main" noGrp="1"/>
          </p:cNvSpPr>
          <p:nvPr/>
        </p:nvSpPr>
        <p:spPr>
          <a:xfrm xmlns:a="http://schemas.openxmlformats.org/drawingml/2006/main">
            <a:off x="1038225" y="1743075"/>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Điều phối bằng LangGraph</a:t>
            </a:r>
          </a:p>
        </p:txBody>
      </p:sp>
      <p:sp>
        <p:nvSpPr>
          <p:cNvPr id="5" name="">
            <a:extLst xmlns:a="http://schemas.openxmlformats.org/drawingml/2006/main">
              <a:ext uri="{FF2B5EF4-FFF2-40B4-BE49-F238E27FC236}">
                <a16:creationId xmlns:a16="http://schemas.microsoft.com/office/drawing/2014/main" id="{CFDD807B-5139-4105-BF1D-5032F0089F61}"/>
              </a:ext>
            </a:extLst>
          </p:cNvPr>
          <p:cNvSpPr>
            <a:spLocks xmlns:a="http://schemas.openxmlformats.org/drawingml/2006/main" noGrp="1"/>
          </p:cNvSpPr>
          <p:nvPr/>
        </p:nvSpPr>
        <p:spPr>
          <a:xfrm xmlns:a="http://schemas.openxmlformats.org/drawingml/2006/main">
            <a:off x="1038225" y="2162175"/>
            <a:ext cx="27813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Tách workflow theo intent để dễ mở rộng và quan sát.</a:t>
            </a:r>
          </a:p>
        </p:txBody>
      </p:sp>
      <p:sp>
        <p:nvSpPr>
          <p:cNvPr id="6" name="">
            <a:extLst xmlns:a="http://schemas.openxmlformats.org/drawingml/2006/main">
              <a:ext uri="{FF2B5EF4-FFF2-40B4-BE49-F238E27FC236}">
                <a16:creationId xmlns:a16="http://schemas.microsoft.com/office/drawing/2014/main" id="{B28FBF2E-0EDD-48A6-96A2-18F1AF5DBFA7}"/>
              </a:ext>
            </a:extLst>
          </p:cNvPr>
          <p:cNvSpPr>
            <a:spLocks xmlns:a="http://schemas.openxmlformats.org/drawingml/2006/main" noGrp="1"/>
          </p:cNvSpPr>
          <p:nvPr/>
        </p:nvSpPr>
        <p:spPr>
          <a:xfrm xmlns:a="http://schemas.openxmlformats.org/drawingml/2006/main">
            <a:off x="4476750" y="1571625"/>
            <a:ext cx="3238500"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ED40ACC-D21B-4C1A-ADAB-D5A9574F11A5}"/>
              </a:ext>
            </a:extLst>
          </p:cNvPr>
          <p:cNvSpPr>
            <a:spLocks xmlns:a="http://schemas.openxmlformats.org/drawingml/2006/main" noGrp="1"/>
          </p:cNvSpPr>
          <p:nvPr/>
        </p:nvSpPr>
        <p:spPr>
          <a:xfrm xmlns:a="http://schemas.openxmlformats.org/drawingml/2006/main">
            <a:off x="4705350" y="1743075"/>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LLM cho tác vụ ngữ cảnh</a:t>
            </a:r>
          </a:p>
        </p:txBody>
      </p:sp>
      <p:sp>
        <p:nvSpPr>
          <p:cNvPr id="8" name="">
            <a:extLst xmlns:a="http://schemas.openxmlformats.org/drawingml/2006/main">
              <a:ext uri="{FF2B5EF4-FFF2-40B4-BE49-F238E27FC236}">
                <a16:creationId xmlns:a16="http://schemas.microsoft.com/office/drawing/2014/main" id="{DC2F646F-66D7-4501-AA5A-9C9EA53562A9}"/>
              </a:ext>
            </a:extLst>
          </p:cNvPr>
          <p:cNvSpPr>
            <a:spLocks xmlns:a="http://schemas.openxmlformats.org/drawingml/2006/main" noGrp="1"/>
          </p:cNvSpPr>
          <p:nvPr/>
        </p:nvSpPr>
        <p:spPr>
          <a:xfrm xmlns:a="http://schemas.openxmlformats.org/drawingml/2006/main">
            <a:off x="4705350" y="2162175"/>
            <a:ext cx="27813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Detect intent, classify problem, generate hint, testcase và review phản hồi.</a:t>
            </a:r>
          </a:p>
        </p:txBody>
      </p:sp>
      <p:sp>
        <p:nvSpPr>
          <p:cNvPr id="9" name="">
            <a:extLst xmlns:a="http://schemas.openxmlformats.org/drawingml/2006/main">
              <a:ext uri="{FF2B5EF4-FFF2-40B4-BE49-F238E27FC236}">
                <a16:creationId xmlns:a16="http://schemas.microsoft.com/office/drawing/2014/main" id="{F9B9C677-AB38-431A-B718-95FF8B665805}"/>
              </a:ext>
            </a:extLst>
          </p:cNvPr>
          <p:cNvSpPr>
            <a:spLocks xmlns:a="http://schemas.openxmlformats.org/drawingml/2006/main" noGrp="1"/>
          </p:cNvSpPr>
          <p:nvPr/>
        </p:nvSpPr>
        <p:spPr>
          <a:xfrm xmlns:a="http://schemas.openxmlformats.org/drawingml/2006/main">
            <a:off x="8143875" y="1571625"/>
            <a:ext cx="3238500"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67A2CF9-C5E7-4304-9FA0-57A68AFDE750}"/>
              </a:ext>
            </a:extLst>
          </p:cNvPr>
          <p:cNvSpPr>
            <a:spLocks xmlns:a="http://schemas.openxmlformats.org/drawingml/2006/main" noGrp="1"/>
          </p:cNvSpPr>
          <p:nvPr/>
        </p:nvSpPr>
        <p:spPr>
          <a:xfrm xmlns:a="http://schemas.openxmlformats.org/drawingml/2006/main">
            <a:off x="8372475" y="1743075"/>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Quality Layer</a:t>
            </a:r>
          </a:p>
        </p:txBody>
      </p:sp>
      <p:sp>
        <p:nvSpPr>
          <p:cNvPr id="11" name="">
            <a:extLst xmlns:a="http://schemas.openxmlformats.org/drawingml/2006/main">
              <a:ext uri="{FF2B5EF4-FFF2-40B4-BE49-F238E27FC236}">
                <a16:creationId xmlns:a16="http://schemas.microsoft.com/office/drawing/2014/main" id="{3E7A6F6F-3227-4FE3-B30F-F7D4D10F3727}"/>
              </a:ext>
            </a:extLst>
          </p:cNvPr>
          <p:cNvSpPr>
            <a:spLocks xmlns:a="http://schemas.openxmlformats.org/drawingml/2006/main" noGrp="1"/>
          </p:cNvSpPr>
          <p:nvPr/>
        </p:nvSpPr>
        <p:spPr>
          <a:xfrm xmlns:a="http://schemas.openxmlformats.org/drawingml/2006/main">
            <a:off x="8372475" y="2162175"/>
            <a:ext cx="27813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Testcase generator, execution validator và pedagogy critic.</a:t>
            </a:r>
          </a:p>
        </p:txBody>
      </p:sp>
      <p:sp>
        <p:nvSpPr>
          <p:cNvPr id="12" name="">
            <a:extLst xmlns:a="http://schemas.openxmlformats.org/drawingml/2006/main">
              <a:ext uri="{FF2B5EF4-FFF2-40B4-BE49-F238E27FC236}">
                <a16:creationId xmlns:a16="http://schemas.microsoft.com/office/drawing/2014/main" id="{AEDAFC75-732F-4F86-B40E-E6E0E4D21FAB}"/>
              </a:ext>
            </a:extLst>
          </p:cNvPr>
          <p:cNvSpPr>
            <a:spLocks xmlns:a="http://schemas.openxmlformats.org/drawingml/2006/main" noGrp="1"/>
          </p:cNvSpPr>
          <p:nvPr/>
        </p:nvSpPr>
        <p:spPr>
          <a:xfrm xmlns:a="http://schemas.openxmlformats.org/drawingml/2006/main">
            <a:off x="2619375" y="3714750"/>
            <a:ext cx="6953250" cy="1381125"/>
          </a:xfrm>
          <a:prstGeom xmlns:a="http://schemas.openxmlformats.org/drawingml/2006/main" prst="roundRect">
            <a:avLst>
              <a:gd name="adj" fmla="val 8276"/>
            </a:avLst>
          </a:prstGeom>
          <a:solidFill xmlns:a="http://schemas.openxmlformats.org/drawingml/2006/main">
            <a:srgbClr val="EAF7F8"/>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DEE6E4AC-237C-46EC-9F4D-20DA20FF6E20}"/>
              </a:ext>
            </a:extLst>
          </p:cNvPr>
          <p:cNvSpPr>
            <a:spLocks xmlns:a="http://schemas.openxmlformats.org/drawingml/2006/main" noGrp="1"/>
          </p:cNvSpPr>
          <p:nvPr/>
        </p:nvSpPr>
        <p:spPr>
          <a:xfrm xmlns:a="http://schemas.openxmlformats.org/drawingml/2006/main">
            <a:off x="2847975" y="3886200"/>
            <a:ext cx="6496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Giao diện tương tác</a:t>
            </a:r>
          </a:p>
        </p:txBody>
      </p:sp>
      <p:sp>
        <p:nvSpPr>
          <p:cNvPr id="14" name="">
            <a:extLst xmlns:a="http://schemas.openxmlformats.org/drawingml/2006/main">
              <a:ext uri="{FF2B5EF4-FFF2-40B4-BE49-F238E27FC236}">
                <a16:creationId xmlns:a16="http://schemas.microsoft.com/office/drawing/2014/main" id="{45872E0F-335F-43E7-86A4-A4DE27620255}"/>
              </a:ext>
            </a:extLst>
          </p:cNvPr>
          <p:cNvSpPr>
            <a:spLocks xmlns:a="http://schemas.openxmlformats.org/drawingml/2006/main" noGrp="1"/>
          </p:cNvSpPr>
          <p:nvPr/>
        </p:nvSpPr>
        <p:spPr>
          <a:xfrm xmlns:a="http://schemas.openxmlformats.org/drawingml/2006/main">
            <a:off x="2847975" y="4305300"/>
            <a:ext cx="64960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Streamlit chat UI nhiều phiên, hiển thị trạng thái và Agent Trace.</a:t>
            </a:r>
          </a:p>
        </p:txBody>
      </p:sp>
      <p:sp>
        <p:nvSpPr>
          <p:cNvPr id="15" name="">
            <a:extLst xmlns:a="http://schemas.openxmlformats.org/drawingml/2006/main">
              <a:ext uri="{FF2B5EF4-FFF2-40B4-BE49-F238E27FC236}">
                <a16:creationId xmlns:a16="http://schemas.microsoft.com/office/drawing/2014/main" id="{90164FE4-9D7C-47E7-B097-4AB0016ECCCB}"/>
              </a:ext>
            </a:extLst>
          </p:cNvPr>
          <p:cNvSpPr>
            <a:spLocks xmlns:a="http://schemas.openxmlformats.org/drawingml/2006/main" noGrp="1"/>
          </p:cNvSpPr>
          <p:nvPr/>
        </p:nvSpPr>
        <p:spPr>
          <a:xfrm xmlns:a="http://schemas.openxmlformats.org/drawingml/2006/main">
            <a:off x="1104900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90A1B9"/>
                </a:solidFill>
              </a:defRPr>
            </a:pPr>
            <a:r>
              <a:rPr sz="1050" b="0">
                <a:solidFill>
                  <a:srgbClr val="90A1B9"/>
                </a:solidFill>
              </a:rPr>
              <a:t>04</a:t>
            </a:r>
          </a:p>
        </p:txBody>
      </p:sp>
    </p:spTree>
    <p:extLst>
      <p:ext uri="{BB962C8B-B14F-4D97-AF65-F5344CB8AC3E}">
        <p14:creationId xmlns:p14="http://schemas.microsoft.com/office/powerpoint/2010/main" val="1947085763"/>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3984B9-D2D6-4EC1-AD1A-193860D6CA39}"/>
              </a:ext>
            </a:extLst>
          </p:cNvPr>
          <p:cNvSpPr>
            <a:spLocks xmlns:a="http://schemas.openxmlformats.org/drawingml/2006/main" noGrp="1"/>
          </p:cNvSpPr>
          <p:nvPr/>
        </p:nvSpPr>
        <p:spPr>
          <a:xfrm xmlns:a="http://schemas.openxmlformats.org/drawingml/2006/main">
            <a:off x="666750" y="3429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F4E79"/>
                </a:solidFill>
              </a:defRPr>
            </a:pPr>
            <a:r>
              <a:rPr sz="1050" b="1">
                <a:solidFill>
                  <a:srgbClr val="1F4E79"/>
                </a:solidFill>
              </a:rPr>
              <a:t>DSA SOCRATIC AGENT</a:t>
            </a:r>
          </a:p>
        </p:txBody>
      </p:sp>
      <p:sp>
        <p:nvSpPr>
          <p:cNvPr id="2" name="">
            <a:extLst xmlns:a="http://schemas.openxmlformats.org/drawingml/2006/main">
              <a:ext uri="{FF2B5EF4-FFF2-40B4-BE49-F238E27FC236}">
                <a16:creationId xmlns:a16="http://schemas.microsoft.com/office/drawing/2014/main" id="{EE4B632C-09F1-482D-8125-14279BC58A62}"/>
              </a:ext>
            </a:extLst>
          </p:cNvPr>
          <p:cNvSpPr>
            <a:spLocks xmlns:a="http://schemas.openxmlformats.org/drawingml/2006/main" noGrp="1"/>
          </p:cNvSpPr>
          <p:nvPr/>
        </p:nvSpPr>
        <p:spPr>
          <a:xfrm xmlns:a="http://schemas.openxmlformats.org/drawingml/2006/main">
            <a:off x="666750" y="6858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20618"/>
                </a:solidFill>
              </a:defRPr>
            </a:pPr>
            <a:r>
              <a:rPr sz="2850" b="1">
                <a:solidFill>
                  <a:srgbClr val="020618"/>
                </a:solidFill>
              </a:rPr>
              <a:t>Công nghệ sử dụng</a:t>
            </a:r>
          </a:p>
        </p:txBody>
      </p:sp>
      <p:sp>
        <p:nvSpPr>
          <p:cNvPr id="3" name="">
            <a:extLst xmlns:a="http://schemas.openxmlformats.org/drawingml/2006/main">
              <a:ext uri="{FF2B5EF4-FFF2-40B4-BE49-F238E27FC236}">
                <a16:creationId xmlns:a16="http://schemas.microsoft.com/office/drawing/2014/main" id="{FA77C322-84C3-445D-865A-E0515B31B232}"/>
              </a:ext>
            </a:extLst>
          </p:cNvPr>
          <p:cNvSpPr>
            <a:spLocks xmlns:a="http://schemas.openxmlformats.org/drawingml/2006/main" noGrp="1"/>
          </p:cNvSpPr>
          <p:nvPr/>
        </p:nvSpPr>
        <p:spPr>
          <a:xfrm xmlns:a="http://schemas.openxmlformats.org/drawingml/2006/main">
            <a:off x="714375" y="1524000"/>
            <a:ext cx="238125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E5D97F39-1B01-4053-B2A0-AB5820F742F1}"/>
              </a:ext>
            </a:extLst>
          </p:cNvPr>
          <p:cNvSpPr>
            <a:spLocks xmlns:a="http://schemas.openxmlformats.org/drawingml/2006/main" noGrp="1"/>
          </p:cNvSpPr>
          <p:nvPr/>
        </p:nvSpPr>
        <p:spPr>
          <a:xfrm xmlns:a="http://schemas.openxmlformats.org/drawingml/2006/main">
            <a:off x="942975" y="169545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Python</a:t>
            </a:r>
          </a:p>
        </p:txBody>
      </p:sp>
      <p:sp>
        <p:nvSpPr>
          <p:cNvPr id="5" name="">
            <a:extLst xmlns:a="http://schemas.openxmlformats.org/drawingml/2006/main">
              <a:ext uri="{FF2B5EF4-FFF2-40B4-BE49-F238E27FC236}">
                <a16:creationId xmlns:a16="http://schemas.microsoft.com/office/drawing/2014/main" id="{DF505CC8-8D16-4995-9C1E-30D73D0C8FEF}"/>
              </a:ext>
            </a:extLst>
          </p:cNvPr>
          <p:cNvSpPr>
            <a:spLocks xmlns:a="http://schemas.openxmlformats.org/drawingml/2006/main" noGrp="1"/>
          </p:cNvSpPr>
          <p:nvPr/>
        </p:nvSpPr>
        <p:spPr>
          <a:xfrm xmlns:a="http://schemas.openxmlformats.org/drawingml/2006/main">
            <a:off x="942975" y="2114550"/>
            <a:ext cx="1924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Core agent, schema dữ liệu, validator và kiểm thử.</a:t>
            </a:r>
          </a:p>
        </p:txBody>
      </p:sp>
      <p:sp>
        <p:nvSpPr>
          <p:cNvPr id="6" name="">
            <a:extLst xmlns:a="http://schemas.openxmlformats.org/drawingml/2006/main">
              <a:ext uri="{FF2B5EF4-FFF2-40B4-BE49-F238E27FC236}">
                <a16:creationId xmlns:a16="http://schemas.microsoft.com/office/drawing/2014/main" id="{CD7B7ECF-CC61-450D-A7C7-77BB0FAEAD38}"/>
              </a:ext>
            </a:extLst>
          </p:cNvPr>
          <p:cNvSpPr>
            <a:spLocks xmlns:a="http://schemas.openxmlformats.org/drawingml/2006/main" noGrp="1"/>
          </p:cNvSpPr>
          <p:nvPr/>
        </p:nvSpPr>
        <p:spPr>
          <a:xfrm xmlns:a="http://schemas.openxmlformats.org/drawingml/2006/main">
            <a:off x="3476625" y="1524000"/>
            <a:ext cx="238125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33444D8-EE95-4D63-8F8D-8086D4FAE2FF}"/>
              </a:ext>
            </a:extLst>
          </p:cNvPr>
          <p:cNvSpPr>
            <a:spLocks xmlns:a="http://schemas.openxmlformats.org/drawingml/2006/main" noGrp="1"/>
          </p:cNvSpPr>
          <p:nvPr/>
        </p:nvSpPr>
        <p:spPr>
          <a:xfrm xmlns:a="http://schemas.openxmlformats.org/drawingml/2006/main">
            <a:off x="3705225" y="169545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LangGraph</a:t>
            </a:r>
          </a:p>
        </p:txBody>
      </p:sp>
      <p:sp>
        <p:nvSpPr>
          <p:cNvPr id="8" name="">
            <a:extLst xmlns:a="http://schemas.openxmlformats.org/drawingml/2006/main">
              <a:ext uri="{FF2B5EF4-FFF2-40B4-BE49-F238E27FC236}">
                <a16:creationId xmlns:a16="http://schemas.microsoft.com/office/drawing/2014/main" id="{E80CC4B0-2453-4B57-9571-230DB7FCE23C}"/>
              </a:ext>
            </a:extLst>
          </p:cNvPr>
          <p:cNvSpPr>
            <a:spLocks xmlns:a="http://schemas.openxmlformats.org/drawingml/2006/main" noGrp="1"/>
          </p:cNvSpPr>
          <p:nvPr/>
        </p:nvSpPr>
        <p:spPr>
          <a:xfrm xmlns:a="http://schemas.openxmlformats.org/drawingml/2006/main">
            <a:off x="3705225" y="2114550"/>
            <a:ext cx="1924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Workflow orchestration bằng node và conditional edge.</a:t>
            </a:r>
          </a:p>
        </p:txBody>
      </p:sp>
      <p:sp>
        <p:nvSpPr>
          <p:cNvPr id="9" name="">
            <a:extLst xmlns:a="http://schemas.openxmlformats.org/drawingml/2006/main">
              <a:ext uri="{FF2B5EF4-FFF2-40B4-BE49-F238E27FC236}">
                <a16:creationId xmlns:a16="http://schemas.microsoft.com/office/drawing/2014/main" id="{29B4705D-E3EB-4664-9087-797A1E7895E8}"/>
              </a:ext>
            </a:extLst>
          </p:cNvPr>
          <p:cNvSpPr>
            <a:spLocks xmlns:a="http://schemas.openxmlformats.org/drawingml/2006/main" noGrp="1"/>
          </p:cNvSpPr>
          <p:nvPr/>
        </p:nvSpPr>
        <p:spPr>
          <a:xfrm xmlns:a="http://schemas.openxmlformats.org/drawingml/2006/main">
            <a:off x="6238875" y="1524000"/>
            <a:ext cx="238125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718FF038-2842-4B74-99D9-136F939384CA}"/>
              </a:ext>
            </a:extLst>
          </p:cNvPr>
          <p:cNvSpPr>
            <a:spLocks xmlns:a="http://schemas.openxmlformats.org/drawingml/2006/main" noGrp="1"/>
          </p:cNvSpPr>
          <p:nvPr/>
        </p:nvSpPr>
        <p:spPr>
          <a:xfrm xmlns:a="http://schemas.openxmlformats.org/drawingml/2006/main">
            <a:off x="6467475" y="169545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Gemini API</a:t>
            </a:r>
          </a:p>
        </p:txBody>
      </p:sp>
      <p:sp>
        <p:nvSpPr>
          <p:cNvPr id="11" name="">
            <a:extLst xmlns:a="http://schemas.openxmlformats.org/drawingml/2006/main">
              <a:ext uri="{FF2B5EF4-FFF2-40B4-BE49-F238E27FC236}">
                <a16:creationId xmlns:a16="http://schemas.microsoft.com/office/drawing/2014/main" id="{0331C283-EBDD-4A0F-BA76-744F443DF2CC}"/>
              </a:ext>
            </a:extLst>
          </p:cNvPr>
          <p:cNvSpPr>
            <a:spLocks xmlns:a="http://schemas.openxmlformats.org/drawingml/2006/main" noGrp="1"/>
          </p:cNvSpPr>
          <p:nvPr/>
        </p:nvSpPr>
        <p:spPr>
          <a:xfrm xmlns:a="http://schemas.openxmlformats.org/drawingml/2006/main">
            <a:off x="6467475" y="2114550"/>
            <a:ext cx="1924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LLM provider cho intent, hint, testcase và pedagogy review.</a:t>
            </a:r>
          </a:p>
        </p:txBody>
      </p:sp>
      <p:sp>
        <p:nvSpPr>
          <p:cNvPr id="12" name="">
            <a:extLst xmlns:a="http://schemas.openxmlformats.org/drawingml/2006/main">
              <a:ext uri="{FF2B5EF4-FFF2-40B4-BE49-F238E27FC236}">
                <a16:creationId xmlns:a16="http://schemas.microsoft.com/office/drawing/2014/main" id="{95EFD4FD-078C-4439-8758-4869C8C64CDB}"/>
              </a:ext>
            </a:extLst>
          </p:cNvPr>
          <p:cNvSpPr>
            <a:spLocks xmlns:a="http://schemas.openxmlformats.org/drawingml/2006/main" noGrp="1"/>
          </p:cNvSpPr>
          <p:nvPr/>
        </p:nvSpPr>
        <p:spPr>
          <a:xfrm xmlns:a="http://schemas.openxmlformats.org/drawingml/2006/main">
            <a:off x="9001125" y="1524000"/>
            <a:ext cx="238125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A4B2CAEB-C78E-4226-96F3-D092100C85F1}"/>
              </a:ext>
            </a:extLst>
          </p:cNvPr>
          <p:cNvSpPr>
            <a:spLocks xmlns:a="http://schemas.openxmlformats.org/drawingml/2006/main" noGrp="1"/>
          </p:cNvSpPr>
          <p:nvPr/>
        </p:nvSpPr>
        <p:spPr>
          <a:xfrm xmlns:a="http://schemas.openxmlformats.org/drawingml/2006/main">
            <a:off x="9229725" y="169545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Streamlit</a:t>
            </a:r>
          </a:p>
        </p:txBody>
      </p:sp>
      <p:sp>
        <p:nvSpPr>
          <p:cNvPr id="14" name="">
            <a:extLst xmlns:a="http://schemas.openxmlformats.org/drawingml/2006/main">
              <a:ext uri="{FF2B5EF4-FFF2-40B4-BE49-F238E27FC236}">
                <a16:creationId xmlns:a16="http://schemas.microsoft.com/office/drawing/2014/main" id="{A0756068-9D2C-4048-AE45-21624144A451}"/>
              </a:ext>
            </a:extLst>
          </p:cNvPr>
          <p:cNvSpPr>
            <a:spLocks xmlns:a="http://schemas.openxmlformats.org/drawingml/2006/main" noGrp="1"/>
          </p:cNvSpPr>
          <p:nvPr/>
        </p:nvSpPr>
        <p:spPr>
          <a:xfrm xmlns:a="http://schemas.openxmlformats.org/drawingml/2006/main">
            <a:off x="9229725" y="2114550"/>
            <a:ext cx="1924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Giao diện chat demo, nhiều phiên học và panel trạng thái.</a:t>
            </a:r>
          </a:p>
        </p:txBody>
      </p:sp>
      <p:sp>
        <p:nvSpPr>
          <p:cNvPr id="15" name="">
            <a:extLst xmlns:a="http://schemas.openxmlformats.org/drawingml/2006/main">
              <a:ext uri="{FF2B5EF4-FFF2-40B4-BE49-F238E27FC236}">
                <a16:creationId xmlns:a16="http://schemas.microsoft.com/office/drawing/2014/main" id="{CA561A08-A46E-4D4A-B275-723338D2446F}"/>
              </a:ext>
            </a:extLst>
          </p:cNvPr>
          <p:cNvSpPr>
            <a:spLocks xmlns:a="http://schemas.openxmlformats.org/drawingml/2006/main" noGrp="1"/>
          </p:cNvSpPr>
          <p:nvPr/>
        </p:nvSpPr>
        <p:spPr>
          <a:xfrm xmlns:a="http://schemas.openxmlformats.org/drawingml/2006/main">
            <a:off x="2095500" y="3714750"/>
            <a:ext cx="3619500" cy="1428750"/>
          </a:xfrm>
          <a:prstGeom xmlns:a="http://schemas.openxmlformats.org/drawingml/2006/main" prst="roundRect">
            <a:avLst>
              <a:gd name="adj" fmla="val 8000"/>
            </a:avLst>
          </a:prstGeom>
          <a:solidFill xmlns:a="http://schemas.openxmlformats.org/drawingml/2006/main">
            <a:srgbClr val="FFF7E6"/>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981F3616-3358-408A-9303-4E452BA78805}"/>
              </a:ext>
            </a:extLst>
          </p:cNvPr>
          <p:cNvSpPr>
            <a:spLocks xmlns:a="http://schemas.openxmlformats.org/drawingml/2006/main" noGrp="1"/>
          </p:cNvSpPr>
          <p:nvPr/>
        </p:nvSpPr>
        <p:spPr>
          <a:xfrm xmlns:a="http://schemas.openxmlformats.org/drawingml/2006/main">
            <a:off x="2324100" y="3886200"/>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Quality + Sandbox</a:t>
            </a:r>
          </a:p>
        </p:txBody>
      </p:sp>
      <p:sp>
        <p:nvSpPr>
          <p:cNvPr id="17" name="">
            <a:extLst xmlns:a="http://schemas.openxmlformats.org/drawingml/2006/main">
              <a:ext uri="{FF2B5EF4-FFF2-40B4-BE49-F238E27FC236}">
                <a16:creationId xmlns:a16="http://schemas.microsoft.com/office/drawing/2014/main" id="{20FB0EFF-2023-4C3C-B139-5852F1FBF6F5}"/>
              </a:ext>
            </a:extLst>
          </p:cNvPr>
          <p:cNvSpPr>
            <a:spLocks xmlns:a="http://schemas.openxmlformats.org/drawingml/2006/main" noGrp="1"/>
          </p:cNvSpPr>
          <p:nvPr/>
        </p:nvSpPr>
        <p:spPr>
          <a:xfrm xmlns:a="http://schemas.openxmlformats.org/drawingml/2006/main">
            <a:off x="2324100" y="4305300"/>
            <a:ext cx="316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Chạy code Python có timeout; chuẩn hóa PASSED/FAILED/TIMEOUT/SKIPPED.</a:t>
            </a:r>
          </a:p>
        </p:txBody>
      </p:sp>
      <p:sp>
        <p:nvSpPr>
          <p:cNvPr id="18" name="">
            <a:extLst xmlns:a="http://schemas.openxmlformats.org/drawingml/2006/main">
              <a:ext uri="{FF2B5EF4-FFF2-40B4-BE49-F238E27FC236}">
                <a16:creationId xmlns:a16="http://schemas.microsoft.com/office/drawing/2014/main" id="{D35FEB56-A5B5-4DC6-872D-D27CD1D104FA}"/>
              </a:ext>
            </a:extLst>
          </p:cNvPr>
          <p:cNvSpPr>
            <a:spLocks xmlns:a="http://schemas.openxmlformats.org/drawingml/2006/main" noGrp="1"/>
          </p:cNvSpPr>
          <p:nvPr/>
        </p:nvSpPr>
        <p:spPr>
          <a:xfrm xmlns:a="http://schemas.openxmlformats.org/drawingml/2006/main">
            <a:off x="6477000" y="3714750"/>
            <a:ext cx="3619500" cy="1428750"/>
          </a:xfrm>
          <a:prstGeom xmlns:a="http://schemas.openxmlformats.org/drawingml/2006/main" prst="roundRect">
            <a:avLst>
              <a:gd name="adj" fmla="val 8000"/>
            </a:avLst>
          </a:prstGeom>
          <a:solidFill xmlns:a="http://schemas.openxmlformats.org/drawingml/2006/main">
            <a:srgbClr val="EAF7EE"/>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F7D6E098-C86C-4985-A421-A31B767D8B1A}"/>
              </a:ext>
            </a:extLst>
          </p:cNvPr>
          <p:cNvSpPr>
            <a:spLocks xmlns:a="http://schemas.openxmlformats.org/drawingml/2006/main" noGrp="1"/>
          </p:cNvSpPr>
          <p:nvPr/>
        </p:nvSpPr>
        <p:spPr>
          <a:xfrm xmlns:a="http://schemas.openxmlformats.org/drawingml/2006/main">
            <a:off x="6705600" y="3886200"/>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unittest</a:t>
            </a:r>
          </a:p>
        </p:txBody>
      </p:sp>
      <p:sp>
        <p:nvSpPr>
          <p:cNvPr id="20" name="">
            <a:extLst xmlns:a="http://schemas.openxmlformats.org/drawingml/2006/main">
              <a:ext uri="{FF2B5EF4-FFF2-40B4-BE49-F238E27FC236}">
                <a16:creationId xmlns:a16="http://schemas.microsoft.com/office/drawing/2014/main" id="{92EA562C-48B5-4ADA-8E6E-BAAA3CFA8CFF}"/>
              </a:ext>
            </a:extLst>
          </p:cNvPr>
          <p:cNvSpPr>
            <a:spLocks xmlns:a="http://schemas.openxmlformats.org/drawingml/2006/main" noGrp="1"/>
          </p:cNvSpPr>
          <p:nvPr/>
        </p:nvSpPr>
        <p:spPr>
          <a:xfrm xmlns:a="http://schemas.openxmlformats.org/drawingml/2006/main">
            <a:off x="6705600" y="4305300"/>
            <a:ext cx="316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Kiểm tra schema, validator và các nhánh xử lý chính.</a:t>
            </a:r>
          </a:p>
        </p:txBody>
      </p:sp>
      <p:sp>
        <p:nvSpPr>
          <p:cNvPr id="21" name="">
            <a:extLst xmlns:a="http://schemas.openxmlformats.org/drawingml/2006/main">
              <a:ext uri="{FF2B5EF4-FFF2-40B4-BE49-F238E27FC236}">
                <a16:creationId xmlns:a16="http://schemas.microsoft.com/office/drawing/2014/main" id="{E572E9C6-F2D1-423B-81C0-9AE67A3B72FF}"/>
              </a:ext>
            </a:extLst>
          </p:cNvPr>
          <p:cNvSpPr>
            <a:spLocks xmlns:a="http://schemas.openxmlformats.org/drawingml/2006/main" noGrp="1"/>
          </p:cNvSpPr>
          <p:nvPr/>
        </p:nvSpPr>
        <p:spPr>
          <a:xfrm xmlns:a="http://schemas.openxmlformats.org/drawingml/2006/main">
            <a:off x="1104900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90A1B9"/>
                </a:solidFill>
              </a:defRPr>
            </a:pPr>
            <a:r>
              <a:rPr sz="1050" b="0">
                <a:solidFill>
                  <a:srgbClr val="90A1B9"/>
                </a:solidFill>
              </a:rPr>
              <a:t>05</a:t>
            </a:r>
          </a:p>
        </p:txBody>
      </p:sp>
    </p:spTree>
    <p:extLst>
      <p:ext uri="{BB962C8B-B14F-4D97-AF65-F5344CB8AC3E}">
        <p14:creationId xmlns:p14="http://schemas.microsoft.com/office/powerpoint/2010/main" val="15743173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07E6E5-9336-4F31-B85D-7D1CC00EC6FC}"/>
              </a:ext>
            </a:extLst>
          </p:cNvPr>
          <p:cNvSpPr>
            <a:spLocks xmlns:a="http://schemas.openxmlformats.org/drawingml/2006/main" noGrp="1"/>
          </p:cNvSpPr>
          <p:nvPr/>
        </p:nvSpPr>
        <p:spPr>
          <a:xfrm xmlns:a="http://schemas.openxmlformats.org/drawingml/2006/main">
            <a:off x="666750" y="3429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F4E79"/>
                </a:solidFill>
              </a:defRPr>
            </a:pPr>
            <a:r>
              <a:rPr sz="1050" b="1">
                <a:solidFill>
                  <a:srgbClr val="1F4E79"/>
                </a:solidFill>
              </a:rPr>
              <a:t>DSA SOCRATIC AGENT</a:t>
            </a:r>
          </a:p>
        </p:txBody>
      </p:sp>
      <p:sp>
        <p:nvSpPr>
          <p:cNvPr id="2" name="">
            <a:extLst xmlns:a="http://schemas.openxmlformats.org/drawingml/2006/main">
              <a:ext uri="{FF2B5EF4-FFF2-40B4-BE49-F238E27FC236}">
                <a16:creationId xmlns:a16="http://schemas.microsoft.com/office/drawing/2014/main" id="{D8112150-7DAF-4E82-B6C7-D35406066DC8}"/>
              </a:ext>
            </a:extLst>
          </p:cNvPr>
          <p:cNvSpPr>
            <a:spLocks xmlns:a="http://schemas.openxmlformats.org/drawingml/2006/main" noGrp="1"/>
          </p:cNvSpPr>
          <p:nvPr/>
        </p:nvSpPr>
        <p:spPr>
          <a:xfrm xmlns:a="http://schemas.openxmlformats.org/drawingml/2006/main">
            <a:off x="666750" y="6858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20618"/>
                </a:solidFill>
              </a:defRPr>
            </a:pPr>
            <a:r>
              <a:rPr sz="2850" b="1">
                <a:solidFill>
                  <a:srgbClr val="020618"/>
                </a:solidFill>
              </a:rPr>
              <a:t>Kiến trúc tổng quan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02e01679d384d3b"/>
          <a:stretch xmlns:a="http://schemas.openxmlformats.org/drawingml/2006/main"/>
        </p:blipFill>
        <p:spPr>
          <a:xfrm xmlns:a="http://schemas.openxmlformats.org/drawingml/2006/main">
            <a:off x="792307" y="1381125"/>
            <a:ext cx="6702136" cy="4095750"/>
          </a:xfrm>
          <a:prstGeom xmlns:a="http://schemas.openxmlformats.org/drawingml/2006/main" prst="roundRect">
            <a:avLst>
              <a:gd name="adj" fmla="val 2791"/>
            </a:avLst>
          </a:prstGeom>
        </p:spPr>
      </p:pic>
      <p:sp>
        <p:nvSpPr>
          <p:cNvPr id="4" name="">
            <a:extLst xmlns:a="http://schemas.openxmlformats.org/drawingml/2006/main">
              <a:ext uri="{FF2B5EF4-FFF2-40B4-BE49-F238E27FC236}">
                <a16:creationId xmlns:a16="http://schemas.microsoft.com/office/drawing/2014/main" id="{E920E323-88E9-431F-8367-1347DE2D9BB5}"/>
              </a:ext>
            </a:extLst>
          </p:cNvPr>
          <p:cNvSpPr>
            <a:spLocks xmlns:a="http://schemas.openxmlformats.org/drawingml/2006/main" noGrp="1"/>
          </p:cNvSpPr>
          <p:nvPr/>
        </p:nvSpPr>
        <p:spPr>
          <a:xfrm xmlns:a="http://schemas.openxmlformats.org/drawingml/2006/main">
            <a:off x="7953375" y="1524000"/>
            <a:ext cx="3333750" cy="381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020618"/>
                </a:solidFill>
              </a:defRPr>
            </a:pPr>
            <a:r>
              <a:rPr sz="1500" b="0">
                <a:solidFill>
                  <a:srgbClr val="020618"/>
                </a:solidFill>
              </a:rPr>
              <a:t>• AI Tutor Agent là trung tâm điều phối.</a:t>
            </a:r>
          </a:p>
          <a:p xmlns:a="http://schemas.openxmlformats.org/drawingml/2006/main">
            <a:pPr>
              <a:defRPr sz="1500" b="0">
                <a:solidFill>
                  <a:srgbClr val="020618"/>
                </a:solidFill>
              </a:defRPr>
            </a:pPr>
            <a:r>
              <a:rPr sz="1500" b="0">
                <a:solidFill>
                  <a:srgbClr val="020618"/>
                </a:solidFill>
              </a:rPr>
              <a:t>• Learning Modules xử lý phân loại, gợi ý và phân tích code.</a:t>
            </a:r>
          </a:p>
          <a:p xmlns:a="http://schemas.openxmlformats.org/drawingml/2006/main">
            <a:pPr>
              <a:defRPr sz="1500" b="0">
                <a:solidFill>
                  <a:srgbClr val="020618"/>
                </a:solidFill>
              </a:defRPr>
            </a:pPr>
            <a:r>
              <a:rPr sz="1500" b="0">
                <a:solidFill>
                  <a:srgbClr val="020618"/>
                </a:solidFill>
              </a:rPr>
              <a:t>• Quality Layer kiểm testcase, validation và phản hồi sư phạm.</a:t>
            </a:r>
          </a:p>
          <a:p xmlns:a="http://schemas.openxmlformats.org/drawingml/2006/main">
            <a:pPr>
              <a:defRPr sz="1500" b="0">
                <a:solidFill>
                  <a:srgbClr val="020618"/>
                </a:solidFill>
              </a:defRPr>
            </a:pPr>
            <a:r>
              <a:rPr sz="1500" b="0">
                <a:solidFill>
                  <a:srgbClr val="020618"/>
                </a:solidFill>
              </a:rPr>
              <a:t>• State &amp; Memory giúp cá nhân hóa theo tiến trình học.</a:t>
            </a:r>
          </a:p>
        </p:txBody>
      </p:sp>
      <p:sp>
        <p:nvSpPr>
          <p:cNvPr id="5" name="">
            <a:extLst xmlns:a="http://schemas.openxmlformats.org/drawingml/2006/main">
              <a:ext uri="{FF2B5EF4-FFF2-40B4-BE49-F238E27FC236}">
                <a16:creationId xmlns:a16="http://schemas.microsoft.com/office/drawing/2014/main" id="{66DBF542-3568-44C4-9B99-586035CCF060}"/>
              </a:ext>
            </a:extLst>
          </p:cNvPr>
          <p:cNvSpPr>
            <a:spLocks xmlns:a="http://schemas.openxmlformats.org/drawingml/2006/main" noGrp="1"/>
          </p:cNvSpPr>
          <p:nvPr/>
        </p:nvSpPr>
        <p:spPr>
          <a:xfrm xmlns:a="http://schemas.openxmlformats.org/drawingml/2006/main">
            <a:off x="1104900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90A1B9"/>
                </a:solidFill>
              </a:defRPr>
            </a:pPr>
            <a:r>
              <a:rPr sz="1050" b="0">
                <a:solidFill>
                  <a:srgbClr val="90A1B9"/>
                </a:solidFill>
              </a:rPr>
              <a:t>06</a:t>
            </a:r>
          </a:p>
        </p:txBody>
      </p:sp>
    </p:spTree>
    <p:extLst>
      <p:ext uri="{BB962C8B-B14F-4D97-AF65-F5344CB8AC3E}">
        <p14:creationId xmlns:p14="http://schemas.microsoft.com/office/powerpoint/2010/main" val="904252984"/>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D158E53-3CFA-4639-87BC-E32521C8C9DC}"/>
              </a:ext>
            </a:extLst>
          </p:cNvPr>
          <p:cNvSpPr>
            <a:spLocks xmlns:a="http://schemas.openxmlformats.org/drawingml/2006/main" noGrp="1"/>
          </p:cNvSpPr>
          <p:nvPr/>
        </p:nvSpPr>
        <p:spPr>
          <a:xfrm xmlns:a="http://schemas.openxmlformats.org/drawingml/2006/main">
            <a:off x="666750" y="3429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F4E79"/>
                </a:solidFill>
              </a:defRPr>
            </a:pPr>
            <a:r>
              <a:rPr sz="1050" b="1">
                <a:solidFill>
                  <a:srgbClr val="1F4E79"/>
                </a:solidFill>
              </a:rPr>
              <a:t>DSA SOCRATIC AGENT</a:t>
            </a:r>
          </a:p>
        </p:txBody>
      </p:sp>
      <p:sp>
        <p:nvSpPr>
          <p:cNvPr id="2" name="">
            <a:extLst xmlns:a="http://schemas.openxmlformats.org/drawingml/2006/main">
              <a:ext uri="{FF2B5EF4-FFF2-40B4-BE49-F238E27FC236}">
                <a16:creationId xmlns:a16="http://schemas.microsoft.com/office/drawing/2014/main" id="{B5117EF7-4498-49A1-8EBB-5BF64CE157BF}"/>
              </a:ext>
            </a:extLst>
          </p:cNvPr>
          <p:cNvSpPr>
            <a:spLocks xmlns:a="http://schemas.openxmlformats.org/drawingml/2006/main" noGrp="1"/>
          </p:cNvSpPr>
          <p:nvPr/>
        </p:nvSpPr>
        <p:spPr>
          <a:xfrm xmlns:a="http://schemas.openxmlformats.org/drawingml/2006/main">
            <a:off x="666750" y="6858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20618"/>
                </a:solidFill>
              </a:defRPr>
            </a:pPr>
            <a:r>
              <a:rPr sz="2850" b="1">
                <a:solidFill>
                  <a:srgbClr val="020618"/>
                </a:solidFill>
              </a:rPr>
              <a:t>Workflow LangGraph</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3753cf48d094eb1"/>
          <a:stretch xmlns:a="http://schemas.openxmlformats.org/drawingml/2006/main"/>
        </p:blipFill>
        <p:spPr>
          <a:xfrm xmlns:a="http://schemas.openxmlformats.org/drawingml/2006/main">
            <a:off x="685800" y="1333500"/>
            <a:ext cx="6858000" cy="3733800"/>
          </a:xfrm>
          <a:prstGeom xmlns:a="http://schemas.openxmlformats.org/drawingml/2006/main" prst="roundRect">
            <a:avLst>
              <a:gd name="adj" fmla="val 3061"/>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08804fb83b54835"/>
          <a:stretch xmlns:a="http://schemas.openxmlformats.org/drawingml/2006/main"/>
        </p:blipFill>
        <p:spPr>
          <a:xfrm xmlns:a="http://schemas.openxmlformats.org/drawingml/2006/main">
            <a:off x="7858125" y="1963658"/>
            <a:ext cx="3286125" cy="1120934"/>
          </a:xfrm>
          <a:prstGeom xmlns:a="http://schemas.openxmlformats.org/drawingml/2006/main" prst="roundRect">
            <a:avLst>
              <a:gd name="adj" fmla="val 5714"/>
            </a:avLst>
          </a:prstGeom>
        </p:spPr>
      </p:pic>
      <p:sp>
        <p:nvSpPr>
          <p:cNvPr id="5" name="">
            <a:extLst xmlns:a="http://schemas.openxmlformats.org/drawingml/2006/main">
              <a:ext uri="{FF2B5EF4-FFF2-40B4-BE49-F238E27FC236}">
                <a16:creationId xmlns:a16="http://schemas.microsoft.com/office/drawing/2014/main" id="{2ABC8973-2D1E-4D90-8F21-34B325E7F888}"/>
              </a:ext>
            </a:extLst>
          </p:cNvPr>
          <p:cNvSpPr>
            <a:spLocks xmlns:a="http://schemas.openxmlformats.org/drawingml/2006/main" noGrp="1"/>
          </p:cNvSpPr>
          <p:nvPr/>
        </p:nvSpPr>
        <p:spPr>
          <a:xfrm xmlns:a="http://schemas.openxmlformats.org/drawingml/2006/main">
            <a:off x="7858125" y="3857625"/>
            <a:ext cx="3286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45556C"/>
                </a:solidFill>
              </a:defRPr>
            </a:pPr>
            <a:r>
              <a:rPr sz="1500" b="0">
                <a:solidFill>
                  <a:srgbClr val="45556C"/>
                </a:solidFill>
              </a:rPr>
              <a:t>Tách node giúp workflow rõ ràng, dễ debug và dễ thêm agent mới.</a:t>
            </a:r>
          </a:p>
        </p:txBody>
      </p:sp>
      <p:sp>
        <p:nvSpPr>
          <p:cNvPr id="6" name="">
            <a:extLst xmlns:a="http://schemas.openxmlformats.org/drawingml/2006/main">
              <a:ext uri="{FF2B5EF4-FFF2-40B4-BE49-F238E27FC236}">
                <a16:creationId xmlns:a16="http://schemas.microsoft.com/office/drawing/2014/main" id="{6A1C2F7C-E280-47A3-A142-E2541B360A77}"/>
              </a:ext>
            </a:extLst>
          </p:cNvPr>
          <p:cNvSpPr>
            <a:spLocks xmlns:a="http://schemas.openxmlformats.org/drawingml/2006/main" noGrp="1"/>
          </p:cNvSpPr>
          <p:nvPr/>
        </p:nvSpPr>
        <p:spPr>
          <a:xfrm xmlns:a="http://schemas.openxmlformats.org/drawingml/2006/main">
            <a:off x="1104900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90A1B9"/>
                </a:solidFill>
              </a:defRPr>
            </a:pPr>
            <a:r>
              <a:rPr sz="1050" b="0">
                <a:solidFill>
                  <a:srgbClr val="90A1B9"/>
                </a:solidFill>
              </a:rPr>
              <a:t>07</a:t>
            </a:r>
          </a:p>
        </p:txBody>
      </p:sp>
    </p:spTree>
    <p:extLst>
      <p:ext uri="{BB962C8B-B14F-4D97-AF65-F5344CB8AC3E}">
        <p14:creationId xmlns:p14="http://schemas.microsoft.com/office/powerpoint/2010/main" val="14884649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7E4057-8963-4F6A-AFEF-FCB2E38AD27B}"/>
              </a:ext>
            </a:extLst>
          </p:cNvPr>
          <p:cNvSpPr>
            <a:spLocks xmlns:a="http://schemas.openxmlformats.org/drawingml/2006/main" noGrp="1"/>
          </p:cNvSpPr>
          <p:nvPr/>
        </p:nvSpPr>
        <p:spPr>
          <a:xfrm xmlns:a="http://schemas.openxmlformats.org/drawingml/2006/main">
            <a:off x="666750" y="3429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F4E79"/>
                </a:solidFill>
              </a:defRPr>
            </a:pPr>
            <a:r>
              <a:rPr sz="1050" b="1">
                <a:solidFill>
                  <a:srgbClr val="1F4E79"/>
                </a:solidFill>
              </a:rPr>
              <a:t>DSA SOCRATIC AGENT</a:t>
            </a:r>
          </a:p>
        </p:txBody>
      </p:sp>
      <p:sp>
        <p:nvSpPr>
          <p:cNvPr id="2" name="">
            <a:extLst xmlns:a="http://schemas.openxmlformats.org/drawingml/2006/main">
              <a:ext uri="{FF2B5EF4-FFF2-40B4-BE49-F238E27FC236}">
                <a16:creationId xmlns:a16="http://schemas.microsoft.com/office/drawing/2014/main" id="{96FAAF9E-D85E-42D5-A442-F5CCAC480BB7}"/>
              </a:ext>
            </a:extLst>
          </p:cNvPr>
          <p:cNvSpPr>
            <a:spLocks xmlns:a="http://schemas.openxmlformats.org/drawingml/2006/main" noGrp="1"/>
          </p:cNvSpPr>
          <p:nvPr/>
        </p:nvSpPr>
        <p:spPr>
          <a:xfrm xmlns:a="http://schemas.openxmlformats.org/drawingml/2006/main">
            <a:off x="666750" y="6858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20618"/>
                </a:solidFill>
              </a:defRPr>
            </a:pPr>
            <a:r>
              <a:rPr sz="2850" b="1">
                <a:solidFill>
                  <a:srgbClr val="020618"/>
                </a:solidFill>
              </a:rPr>
              <a:t>Các agent chính</a:t>
            </a:r>
          </a:p>
        </p:txBody>
      </p:sp>
      <p:sp>
        <p:nvSpPr>
          <p:cNvPr id="3" name="">
            <a:extLst xmlns:a="http://schemas.openxmlformats.org/drawingml/2006/main">
              <a:ext uri="{FF2B5EF4-FFF2-40B4-BE49-F238E27FC236}">
                <a16:creationId xmlns:a16="http://schemas.microsoft.com/office/drawing/2014/main" id="{858055C8-D302-4DB9-9D35-7122E537A946}"/>
              </a:ext>
            </a:extLst>
          </p:cNvPr>
          <p:cNvSpPr>
            <a:spLocks xmlns:a="http://schemas.openxmlformats.org/drawingml/2006/main" noGrp="1"/>
          </p:cNvSpPr>
          <p:nvPr/>
        </p:nvSpPr>
        <p:spPr>
          <a:xfrm xmlns:a="http://schemas.openxmlformats.org/drawingml/2006/main">
            <a:off x="904875" y="1524000"/>
            <a:ext cx="3048000" cy="1095375"/>
          </a:xfrm>
          <a:prstGeom xmlns:a="http://schemas.openxmlformats.org/drawingml/2006/main" prst="roundRect">
            <a:avLst>
              <a:gd name="adj" fmla="val 10435"/>
            </a:avLst>
          </a:prstGeom>
          <a:solidFill xmlns:a="http://schemas.openxmlformats.org/drawingml/2006/main">
            <a:srgbClr val="EAF2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C80EDCAF-072F-410E-835D-49BEF692FE17}"/>
              </a:ext>
            </a:extLst>
          </p:cNvPr>
          <p:cNvSpPr>
            <a:spLocks xmlns:a="http://schemas.openxmlformats.org/drawingml/2006/main" noGrp="1"/>
          </p:cNvSpPr>
          <p:nvPr/>
        </p:nvSpPr>
        <p:spPr>
          <a:xfrm xmlns:a="http://schemas.openxmlformats.org/drawingml/2006/main">
            <a:off x="1133475" y="1695450"/>
            <a:ext cx="2590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Intent Detector</a:t>
            </a:r>
          </a:p>
        </p:txBody>
      </p:sp>
      <p:sp>
        <p:nvSpPr>
          <p:cNvPr id="5" name="">
            <a:extLst xmlns:a="http://schemas.openxmlformats.org/drawingml/2006/main">
              <a:ext uri="{FF2B5EF4-FFF2-40B4-BE49-F238E27FC236}">
                <a16:creationId xmlns:a16="http://schemas.microsoft.com/office/drawing/2014/main" id="{E16194B8-CE83-4FA2-84D1-E12DDF81C92A}"/>
              </a:ext>
            </a:extLst>
          </p:cNvPr>
          <p:cNvSpPr>
            <a:spLocks xmlns:a="http://schemas.openxmlformats.org/drawingml/2006/main" noGrp="1"/>
          </p:cNvSpPr>
          <p:nvPr/>
        </p:nvSpPr>
        <p:spPr>
          <a:xfrm xmlns:a="http://schemas.openxmlformats.org/drawingml/2006/main">
            <a:off x="1133475" y="2114550"/>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Phân loại message</a:t>
            </a:r>
          </a:p>
        </p:txBody>
      </p:sp>
      <p:sp>
        <p:nvSpPr>
          <p:cNvPr id="6" name="">
            <a:extLst xmlns:a="http://schemas.openxmlformats.org/drawingml/2006/main">
              <a:ext uri="{FF2B5EF4-FFF2-40B4-BE49-F238E27FC236}">
                <a16:creationId xmlns:a16="http://schemas.microsoft.com/office/drawing/2014/main" id="{8C04E674-0CCF-48D9-9A10-D3EA8484AA53}"/>
              </a:ext>
            </a:extLst>
          </p:cNvPr>
          <p:cNvSpPr>
            <a:spLocks xmlns:a="http://schemas.openxmlformats.org/drawingml/2006/main" noGrp="1"/>
          </p:cNvSpPr>
          <p:nvPr/>
        </p:nvSpPr>
        <p:spPr>
          <a:xfrm xmlns:a="http://schemas.openxmlformats.org/drawingml/2006/main">
            <a:off x="4429125" y="1524000"/>
            <a:ext cx="3048000" cy="1095375"/>
          </a:xfrm>
          <a:prstGeom xmlns:a="http://schemas.openxmlformats.org/drawingml/2006/main" prst="roundRect">
            <a:avLst>
              <a:gd name="adj" fmla="val 10435"/>
            </a:avLst>
          </a:prstGeom>
          <a:solidFill xmlns:a="http://schemas.openxmlformats.org/drawingml/2006/main">
            <a:srgbClr val="F8FAFC"/>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32A24E4-071D-42D7-8C35-5BB59C564482}"/>
              </a:ext>
            </a:extLst>
          </p:cNvPr>
          <p:cNvSpPr>
            <a:spLocks xmlns:a="http://schemas.openxmlformats.org/drawingml/2006/main" noGrp="1"/>
          </p:cNvSpPr>
          <p:nvPr/>
        </p:nvSpPr>
        <p:spPr>
          <a:xfrm xmlns:a="http://schemas.openxmlformats.org/drawingml/2006/main">
            <a:off x="4657725" y="1695450"/>
            <a:ext cx="2590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Problem Classifier</a:t>
            </a:r>
          </a:p>
        </p:txBody>
      </p:sp>
      <p:sp>
        <p:nvSpPr>
          <p:cNvPr id="8" name="">
            <a:extLst xmlns:a="http://schemas.openxmlformats.org/drawingml/2006/main">
              <a:ext uri="{FF2B5EF4-FFF2-40B4-BE49-F238E27FC236}">
                <a16:creationId xmlns:a16="http://schemas.microsoft.com/office/drawing/2014/main" id="{036CC5E7-5AFD-4B24-8952-7D99C9215C19}"/>
              </a:ext>
            </a:extLst>
          </p:cNvPr>
          <p:cNvSpPr>
            <a:spLocks xmlns:a="http://schemas.openxmlformats.org/drawingml/2006/main" noGrp="1"/>
          </p:cNvSpPr>
          <p:nvPr/>
        </p:nvSpPr>
        <p:spPr>
          <a:xfrm xmlns:a="http://schemas.openxmlformats.org/drawingml/2006/main">
            <a:off x="4657725" y="2114550"/>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Nhận diện dạng bài</a:t>
            </a:r>
          </a:p>
        </p:txBody>
      </p:sp>
      <p:sp>
        <p:nvSpPr>
          <p:cNvPr id="9" name="">
            <a:extLst xmlns:a="http://schemas.openxmlformats.org/drawingml/2006/main">
              <a:ext uri="{FF2B5EF4-FFF2-40B4-BE49-F238E27FC236}">
                <a16:creationId xmlns:a16="http://schemas.microsoft.com/office/drawing/2014/main" id="{7C68FE7A-7E9D-4482-9C27-59F0E465DFA1}"/>
              </a:ext>
            </a:extLst>
          </p:cNvPr>
          <p:cNvSpPr>
            <a:spLocks xmlns:a="http://schemas.openxmlformats.org/drawingml/2006/main" noGrp="1"/>
          </p:cNvSpPr>
          <p:nvPr/>
        </p:nvSpPr>
        <p:spPr>
          <a:xfrm xmlns:a="http://schemas.openxmlformats.org/drawingml/2006/main">
            <a:off x="7953375" y="1524000"/>
            <a:ext cx="3048000" cy="1095375"/>
          </a:xfrm>
          <a:prstGeom xmlns:a="http://schemas.openxmlformats.org/drawingml/2006/main" prst="roundRect">
            <a:avLst>
              <a:gd name="adj" fmla="val 10435"/>
            </a:avLst>
          </a:prstGeom>
          <a:solidFill xmlns:a="http://schemas.openxmlformats.org/drawingml/2006/main">
            <a:srgbClr val="EAF2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B71AF36-ED2D-4369-9ADA-C88D3C4DEEAA}"/>
              </a:ext>
            </a:extLst>
          </p:cNvPr>
          <p:cNvSpPr>
            <a:spLocks xmlns:a="http://schemas.openxmlformats.org/drawingml/2006/main" noGrp="1"/>
          </p:cNvSpPr>
          <p:nvPr/>
        </p:nvSpPr>
        <p:spPr>
          <a:xfrm xmlns:a="http://schemas.openxmlformats.org/drawingml/2006/main">
            <a:off x="8181975" y="1695450"/>
            <a:ext cx="2590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Hint Generator</a:t>
            </a:r>
          </a:p>
        </p:txBody>
      </p:sp>
      <p:sp>
        <p:nvSpPr>
          <p:cNvPr id="11" name="">
            <a:extLst xmlns:a="http://schemas.openxmlformats.org/drawingml/2006/main">
              <a:ext uri="{FF2B5EF4-FFF2-40B4-BE49-F238E27FC236}">
                <a16:creationId xmlns:a16="http://schemas.microsoft.com/office/drawing/2014/main" id="{2334153A-9C97-4C89-A8D0-00BED68A8562}"/>
              </a:ext>
            </a:extLst>
          </p:cNvPr>
          <p:cNvSpPr>
            <a:spLocks xmlns:a="http://schemas.openxmlformats.org/drawingml/2006/main" noGrp="1"/>
          </p:cNvSpPr>
          <p:nvPr/>
        </p:nvSpPr>
        <p:spPr>
          <a:xfrm xmlns:a="http://schemas.openxmlformats.org/drawingml/2006/main">
            <a:off x="8181975" y="2114550"/>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Sinh gợi ý Socratic</a:t>
            </a:r>
          </a:p>
        </p:txBody>
      </p:sp>
      <p:sp>
        <p:nvSpPr>
          <p:cNvPr id="12" name="">
            <a:extLst xmlns:a="http://schemas.openxmlformats.org/drawingml/2006/main">
              <a:ext uri="{FF2B5EF4-FFF2-40B4-BE49-F238E27FC236}">
                <a16:creationId xmlns:a16="http://schemas.microsoft.com/office/drawing/2014/main" id="{99541C95-9787-46C4-8FFC-14EA9DFADCFF}"/>
              </a:ext>
            </a:extLst>
          </p:cNvPr>
          <p:cNvSpPr>
            <a:spLocks xmlns:a="http://schemas.openxmlformats.org/drawingml/2006/main" noGrp="1"/>
          </p:cNvSpPr>
          <p:nvPr/>
        </p:nvSpPr>
        <p:spPr>
          <a:xfrm xmlns:a="http://schemas.openxmlformats.org/drawingml/2006/main">
            <a:off x="904875" y="2952750"/>
            <a:ext cx="3048000" cy="1095375"/>
          </a:xfrm>
          <a:prstGeom xmlns:a="http://schemas.openxmlformats.org/drawingml/2006/main" prst="roundRect">
            <a:avLst>
              <a:gd name="adj" fmla="val 10435"/>
            </a:avLst>
          </a:prstGeom>
          <a:solidFill xmlns:a="http://schemas.openxmlformats.org/drawingml/2006/main">
            <a:srgbClr val="F8FAFC"/>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90588AAD-F029-4717-BBA6-AED84869C2A2}"/>
              </a:ext>
            </a:extLst>
          </p:cNvPr>
          <p:cNvSpPr>
            <a:spLocks xmlns:a="http://schemas.openxmlformats.org/drawingml/2006/main" noGrp="1"/>
          </p:cNvSpPr>
          <p:nvPr/>
        </p:nvSpPr>
        <p:spPr>
          <a:xfrm xmlns:a="http://schemas.openxmlformats.org/drawingml/2006/main">
            <a:off x="1133475" y="3124200"/>
            <a:ext cx="2590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Testcase Generator</a:t>
            </a:r>
          </a:p>
        </p:txBody>
      </p:sp>
      <p:sp>
        <p:nvSpPr>
          <p:cNvPr id="14" name="">
            <a:extLst xmlns:a="http://schemas.openxmlformats.org/drawingml/2006/main">
              <a:ext uri="{FF2B5EF4-FFF2-40B4-BE49-F238E27FC236}">
                <a16:creationId xmlns:a16="http://schemas.microsoft.com/office/drawing/2014/main" id="{F0B520AC-64DA-45F2-BEDC-1DF4E7450038}"/>
              </a:ext>
            </a:extLst>
          </p:cNvPr>
          <p:cNvSpPr>
            <a:spLocks xmlns:a="http://schemas.openxmlformats.org/drawingml/2006/main" noGrp="1"/>
          </p:cNvSpPr>
          <p:nvPr/>
        </p:nvSpPr>
        <p:spPr>
          <a:xfrm xmlns:a="http://schemas.openxmlformats.org/drawingml/2006/main">
            <a:off x="1133475" y="3543300"/>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Tạo case trace/validate</a:t>
            </a:r>
          </a:p>
        </p:txBody>
      </p:sp>
      <p:sp>
        <p:nvSpPr>
          <p:cNvPr id="15" name="">
            <a:extLst xmlns:a="http://schemas.openxmlformats.org/drawingml/2006/main">
              <a:ext uri="{FF2B5EF4-FFF2-40B4-BE49-F238E27FC236}">
                <a16:creationId xmlns:a16="http://schemas.microsoft.com/office/drawing/2014/main" id="{5D0F3A9E-7DF7-4980-8832-D5A09EEA500A}"/>
              </a:ext>
            </a:extLst>
          </p:cNvPr>
          <p:cNvSpPr>
            <a:spLocks xmlns:a="http://schemas.openxmlformats.org/drawingml/2006/main" noGrp="1"/>
          </p:cNvSpPr>
          <p:nvPr/>
        </p:nvSpPr>
        <p:spPr>
          <a:xfrm xmlns:a="http://schemas.openxmlformats.org/drawingml/2006/main">
            <a:off x="4429125" y="2952750"/>
            <a:ext cx="3048000" cy="1095375"/>
          </a:xfrm>
          <a:prstGeom xmlns:a="http://schemas.openxmlformats.org/drawingml/2006/main" prst="roundRect">
            <a:avLst>
              <a:gd name="adj" fmla="val 10435"/>
            </a:avLst>
          </a:prstGeom>
          <a:solidFill xmlns:a="http://schemas.openxmlformats.org/drawingml/2006/main">
            <a:srgbClr val="EAF2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D24A121E-0CC0-48B8-B4A6-37EAE6E9D01E}"/>
              </a:ext>
            </a:extLst>
          </p:cNvPr>
          <p:cNvSpPr>
            <a:spLocks xmlns:a="http://schemas.openxmlformats.org/drawingml/2006/main" noGrp="1"/>
          </p:cNvSpPr>
          <p:nvPr/>
        </p:nvSpPr>
        <p:spPr>
          <a:xfrm xmlns:a="http://schemas.openxmlformats.org/drawingml/2006/main">
            <a:off x="4657725" y="3124200"/>
            <a:ext cx="2590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Execution Validator</a:t>
            </a:r>
          </a:p>
        </p:txBody>
      </p:sp>
      <p:sp>
        <p:nvSpPr>
          <p:cNvPr id="17" name="">
            <a:extLst xmlns:a="http://schemas.openxmlformats.org/drawingml/2006/main">
              <a:ext uri="{FF2B5EF4-FFF2-40B4-BE49-F238E27FC236}">
                <a16:creationId xmlns:a16="http://schemas.microsoft.com/office/drawing/2014/main" id="{D4F9049D-C056-4FAC-96BA-863DC0651494}"/>
              </a:ext>
            </a:extLst>
          </p:cNvPr>
          <p:cNvSpPr>
            <a:spLocks xmlns:a="http://schemas.openxmlformats.org/drawingml/2006/main" noGrp="1"/>
          </p:cNvSpPr>
          <p:nvPr/>
        </p:nvSpPr>
        <p:spPr>
          <a:xfrm xmlns:a="http://schemas.openxmlformats.org/drawingml/2006/main">
            <a:off x="4657725" y="3543300"/>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Chạy code Python</a:t>
            </a:r>
          </a:p>
        </p:txBody>
      </p:sp>
      <p:sp>
        <p:nvSpPr>
          <p:cNvPr id="18" name="">
            <a:extLst xmlns:a="http://schemas.openxmlformats.org/drawingml/2006/main">
              <a:ext uri="{FF2B5EF4-FFF2-40B4-BE49-F238E27FC236}">
                <a16:creationId xmlns:a16="http://schemas.microsoft.com/office/drawing/2014/main" id="{F52FCA16-7B0F-4FC8-9E95-BDF4160E5E5B}"/>
              </a:ext>
            </a:extLst>
          </p:cNvPr>
          <p:cNvSpPr>
            <a:spLocks xmlns:a="http://schemas.openxmlformats.org/drawingml/2006/main" noGrp="1"/>
          </p:cNvSpPr>
          <p:nvPr/>
        </p:nvSpPr>
        <p:spPr>
          <a:xfrm xmlns:a="http://schemas.openxmlformats.org/drawingml/2006/main">
            <a:off x="7953375" y="2952750"/>
            <a:ext cx="3048000" cy="1095375"/>
          </a:xfrm>
          <a:prstGeom xmlns:a="http://schemas.openxmlformats.org/drawingml/2006/main" prst="roundRect">
            <a:avLst>
              <a:gd name="adj" fmla="val 10435"/>
            </a:avLst>
          </a:prstGeom>
          <a:solidFill xmlns:a="http://schemas.openxmlformats.org/drawingml/2006/main">
            <a:srgbClr val="F8FAFC"/>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6F9EF12D-C983-4706-932F-6850205F1A50}"/>
              </a:ext>
            </a:extLst>
          </p:cNvPr>
          <p:cNvSpPr>
            <a:spLocks xmlns:a="http://schemas.openxmlformats.org/drawingml/2006/main" noGrp="1"/>
          </p:cNvSpPr>
          <p:nvPr/>
        </p:nvSpPr>
        <p:spPr>
          <a:xfrm xmlns:a="http://schemas.openxmlformats.org/drawingml/2006/main">
            <a:off x="8181975" y="3124200"/>
            <a:ext cx="2590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Pedagogy Critic</a:t>
            </a:r>
          </a:p>
        </p:txBody>
      </p:sp>
      <p:sp>
        <p:nvSpPr>
          <p:cNvPr id="20" name="">
            <a:extLst xmlns:a="http://schemas.openxmlformats.org/drawingml/2006/main">
              <a:ext uri="{FF2B5EF4-FFF2-40B4-BE49-F238E27FC236}">
                <a16:creationId xmlns:a16="http://schemas.microsoft.com/office/drawing/2014/main" id="{69346135-DD5F-4F23-9256-7B7728A439E9}"/>
              </a:ext>
            </a:extLst>
          </p:cNvPr>
          <p:cNvSpPr>
            <a:spLocks xmlns:a="http://schemas.openxmlformats.org/drawingml/2006/main" noGrp="1"/>
          </p:cNvSpPr>
          <p:nvPr/>
        </p:nvSpPr>
        <p:spPr>
          <a:xfrm xmlns:a="http://schemas.openxmlformats.org/drawingml/2006/main">
            <a:off x="8181975" y="3543300"/>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Review phản hồi</a:t>
            </a:r>
          </a:p>
        </p:txBody>
      </p:sp>
      <p:sp>
        <p:nvSpPr>
          <p:cNvPr id="21" name="">
            <a:extLst xmlns:a="http://schemas.openxmlformats.org/drawingml/2006/main">
              <a:ext uri="{FF2B5EF4-FFF2-40B4-BE49-F238E27FC236}">
                <a16:creationId xmlns:a16="http://schemas.microsoft.com/office/drawing/2014/main" id="{830991B7-70FE-4C43-BA54-2FEC2FC3663D}"/>
              </a:ext>
            </a:extLst>
          </p:cNvPr>
          <p:cNvSpPr>
            <a:spLocks xmlns:a="http://schemas.openxmlformats.org/drawingml/2006/main" noGrp="1"/>
          </p:cNvSpPr>
          <p:nvPr/>
        </p:nvSpPr>
        <p:spPr>
          <a:xfrm xmlns:a="http://schemas.openxmlformats.org/drawingml/2006/main">
            <a:off x="904875" y="4381500"/>
            <a:ext cx="3048000" cy="1095375"/>
          </a:xfrm>
          <a:prstGeom xmlns:a="http://schemas.openxmlformats.org/drawingml/2006/main" prst="roundRect">
            <a:avLst>
              <a:gd name="adj" fmla="val 10435"/>
            </a:avLst>
          </a:prstGeom>
          <a:solidFill xmlns:a="http://schemas.openxmlformats.org/drawingml/2006/main">
            <a:srgbClr val="EAF2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BDE28B4B-A586-4FC8-B4B3-574359628D92}"/>
              </a:ext>
            </a:extLst>
          </p:cNvPr>
          <p:cNvSpPr>
            <a:spLocks xmlns:a="http://schemas.openxmlformats.org/drawingml/2006/main" noGrp="1"/>
          </p:cNvSpPr>
          <p:nvPr/>
        </p:nvSpPr>
        <p:spPr>
          <a:xfrm xmlns:a="http://schemas.openxmlformats.org/drawingml/2006/main">
            <a:off x="1133475" y="4552950"/>
            <a:ext cx="2590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Session Title</a:t>
            </a:r>
          </a:p>
        </p:txBody>
      </p:sp>
      <p:sp>
        <p:nvSpPr>
          <p:cNvPr id="23" name="">
            <a:extLst xmlns:a="http://schemas.openxmlformats.org/drawingml/2006/main">
              <a:ext uri="{FF2B5EF4-FFF2-40B4-BE49-F238E27FC236}">
                <a16:creationId xmlns:a16="http://schemas.microsoft.com/office/drawing/2014/main" id="{C2C68900-5E2A-45E6-BDC1-219684F9D942}"/>
              </a:ext>
            </a:extLst>
          </p:cNvPr>
          <p:cNvSpPr>
            <a:spLocks xmlns:a="http://schemas.openxmlformats.org/drawingml/2006/main" noGrp="1"/>
          </p:cNvSpPr>
          <p:nvPr/>
        </p:nvSpPr>
        <p:spPr>
          <a:xfrm xmlns:a="http://schemas.openxmlformats.org/drawingml/2006/main">
            <a:off x="1133475" y="4972050"/>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Đặt tên phiên chat</a:t>
            </a:r>
          </a:p>
        </p:txBody>
      </p:sp>
      <p:sp>
        <p:nvSpPr>
          <p:cNvPr id="24" name="">
            <a:extLst xmlns:a="http://schemas.openxmlformats.org/drawingml/2006/main">
              <a:ext uri="{FF2B5EF4-FFF2-40B4-BE49-F238E27FC236}">
                <a16:creationId xmlns:a16="http://schemas.microsoft.com/office/drawing/2014/main" id="{612B9119-B90F-45B6-8BAC-4251FDFACE1C}"/>
              </a:ext>
            </a:extLst>
          </p:cNvPr>
          <p:cNvSpPr>
            <a:spLocks xmlns:a="http://schemas.openxmlformats.org/drawingml/2006/main" noGrp="1"/>
          </p:cNvSpPr>
          <p:nvPr/>
        </p:nvSpPr>
        <p:spPr>
          <a:xfrm xmlns:a="http://schemas.openxmlformats.org/drawingml/2006/main">
            <a:off x="1104900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90A1B9"/>
                </a:solidFill>
              </a:defRPr>
            </a:pPr>
            <a:r>
              <a:rPr sz="1050" b="0">
                <a:solidFill>
                  <a:srgbClr val="90A1B9"/>
                </a:solidFill>
              </a:rPr>
              <a:t>08</a:t>
            </a:r>
          </a:p>
        </p:txBody>
      </p:sp>
    </p:spTree>
    <p:extLst>
      <p:ext uri="{BB962C8B-B14F-4D97-AF65-F5344CB8AC3E}">
        <p14:creationId xmlns:p14="http://schemas.microsoft.com/office/powerpoint/2010/main" val="1267412557"/>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DBA8B0-D537-47E5-931D-D407358C8B26}"/>
              </a:ext>
            </a:extLst>
          </p:cNvPr>
          <p:cNvSpPr>
            <a:spLocks xmlns:a="http://schemas.openxmlformats.org/drawingml/2006/main" noGrp="1"/>
          </p:cNvSpPr>
          <p:nvPr/>
        </p:nvSpPr>
        <p:spPr>
          <a:xfrm xmlns:a="http://schemas.openxmlformats.org/drawingml/2006/main">
            <a:off x="666750" y="3429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F4E79"/>
                </a:solidFill>
              </a:defRPr>
            </a:pPr>
            <a:r>
              <a:rPr sz="1050" b="1">
                <a:solidFill>
                  <a:srgbClr val="1F4E79"/>
                </a:solidFill>
              </a:rPr>
              <a:t>DSA SOCRATIC AGENT</a:t>
            </a:r>
          </a:p>
        </p:txBody>
      </p:sp>
      <p:sp>
        <p:nvSpPr>
          <p:cNvPr id="2" name="">
            <a:extLst xmlns:a="http://schemas.openxmlformats.org/drawingml/2006/main">
              <a:ext uri="{FF2B5EF4-FFF2-40B4-BE49-F238E27FC236}">
                <a16:creationId xmlns:a16="http://schemas.microsoft.com/office/drawing/2014/main" id="{28AEFAF9-68C5-446B-957B-4BBC5F0AC358}"/>
              </a:ext>
            </a:extLst>
          </p:cNvPr>
          <p:cNvSpPr>
            <a:spLocks xmlns:a="http://schemas.openxmlformats.org/drawingml/2006/main" noGrp="1"/>
          </p:cNvSpPr>
          <p:nvPr/>
        </p:nvSpPr>
        <p:spPr>
          <a:xfrm xmlns:a="http://schemas.openxmlformats.org/drawingml/2006/main">
            <a:off x="666750" y="6858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20618"/>
                </a:solidFill>
              </a:defRPr>
            </a:pPr>
            <a:r>
              <a:rPr sz="2850" b="1">
                <a:solidFill>
                  <a:srgbClr val="020618"/>
                </a:solidFill>
              </a:rPr>
              <a:t>State &amp; Memory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b5042c3012f41e2"/>
          <a:stretch xmlns:a="http://schemas.openxmlformats.org/drawingml/2006/main"/>
        </p:blipFill>
        <p:spPr>
          <a:xfrm xmlns:a="http://schemas.openxmlformats.org/drawingml/2006/main">
            <a:off x="762000" y="2027873"/>
            <a:ext cx="5143500" cy="1754505"/>
          </a:xfrm>
          <a:prstGeom xmlns:a="http://schemas.openxmlformats.org/drawingml/2006/main" prst="roundRect">
            <a:avLst>
              <a:gd name="adj" fmla="val 3871"/>
            </a:avLst>
          </a:prstGeom>
        </p:spPr>
      </p:pic>
      <p:sp>
        <p:nvSpPr>
          <p:cNvPr id="4" name="">
            <a:extLst xmlns:a="http://schemas.openxmlformats.org/drawingml/2006/main">
              <a:ext uri="{FF2B5EF4-FFF2-40B4-BE49-F238E27FC236}">
                <a16:creationId xmlns:a16="http://schemas.microsoft.com/office/drawing/2014/main" id="{B0F8F474-9CFF-4920-A8D6-2F39F68C6060}"/>
              </a:ext>
            </a:extLst>
          </p:cNvPr>
          <p:cNvSpPr>
            <a:spLocks xmlns:a="http://schemas.openxmlformats.org/drawingml/2006/main" noGrp="1"/>
          </p:cNvSpPr>
          <p:nvPr/>
        </p:nvSpPr>
        <p:spPr>
          <a:xfrm xmlns:a="http://schemas.openxmlformats.org/drawingml/2006/main">
            <a:off x="6667500" y="1619250"/>
            <a:ext cx="4000500" cy="1809750"/>
          </a:xfrm>
          <a:prstGeom xmlns:a="http://schemas.openxmlformats.org/drawingml/2006/main" prst="roundRect">
            <a:avLst>
              <a:gd name="adj" fmla="val 6316"/>
            </a:avLst>
          </a:prstGeom>
          <a:solidFill xmlns:a="http://schemas.openxmlformats.org/drawingml/2006/main">
            <a:srgbClr val="EAF7EE"/>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ED1BC1D-AD5F-4137-BC3E-0FDF3E4F3329}"/>
              </a:ext>
            </a:extLst>
          </p:cNvPr>
          <p:cNvSpPr>
            <a:spLocks xmlns:a="http://schemas.openxmlformats.org/drawingml/2006/main" noGrp="1"/>
          </p:cNvSpPr>
          <p:nvPr/>
        </p:nvSpPr>
        <p:spPr>
          <a:xfrm xmlns:a="http://schemas.openxmlformats.org/drawingml/2006/main">
            <a:off x="6896100" y="1790700"/>
            <a:ext cx="3543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LearningState lưu gì?</a:t>
            </a:r>
          </a:p>
        </p:txBody>
      </p:sp>
      <p:sp>
        <p:nvSpPr>
          <p:cNvPr id="6" name="">
            <a:extLst xmlns:a="http://schemas.openxmlformats.org/drawingml/2006/main">
              <a:ext uri="{FF2B5EF4-FFF2-40B4-BE49-F238E27FC236}">
                <a16:creationId xmlns:a16="http://schemas.microsoft.com/office/drawing/2014/main" id="{98BA23CD-2B20-4333-BF6D-2C90DAB1B18F}"/>
              </a:ext>
            </a:extLst>
          </p:cNvPr>
          <p:cNvSpPr>
            <a:spLocks xmlns:a="http://schemas.openxmlformats.org/drawingml/2006/main" noGrp="1"/>
          </p:cNvSpPr>
          <p:nvPr/>
        </p:nvSpPr>
        <p:spPr>
          <a:xfrm xmlns:a="http://schemas.openxmlformats.org/drawingml/2006/main">
            <a:off x="6896100" y="2209800"/>
            <a:ext cx="35433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current_problem, problem_type, concepts, hint_level, student_attempts, generated_tests, latest_validation, pedagogy_flags và next_action.</a:t>
            </a:r>
          </a:p>
        </p:txBody>
      </p:sp>
      <p:sp>
        <p:nvSpPr>
          <p:cNvPr id="7" name="">
            <a:extLst xmlns:a="http://schemas.openxmlformats.org/drawingml/2006/main">
              <a:ext uri="{FF2B5EF4-FFF2-40B4-BE49-F238E27FC236}">
                <a16:creationId xmlns:a16="http://schemas.microsoft.com/office/drawing/2014/main" id="{A22548B7-EBB3-4E07-857A-66E87834F01D}"/>
              </a:ext>
            </a:extLst>
          </p:cNvPr>
          <p:cNvSpPr>
            <a:spLocks xmlns:a="http://schemas.openxmlformats.org/drawingml/2006/main" noGrp="1"/>
          </p:cNvSpPr>
          <p:nvPr/>
        </p:nvSpPr>
        <p:spPr>
          <a:xfrm xmlns:a="http://schemas.openxmlformats.org/drawingml/2006/main">
            <a:off x="6667500" y="3714750"/>
            <a:ext cx="4000500" cy="1524000"/>
          </a:xfrm>
          <a:prstGeom xmlns:a="http://schemas.openxmlformats.org/drawingml/2006/main" prst="roundRect">
            <a:avLst>
              <a:gd name="adj" fmla="val 7500"/>
            </a:avLst>
          </a:prstGeom>
          <a:solidFill xmlns:a="http://schemas.openxmlformats.org/drawingml/2006/main">
            <a:srgbClr val="FFF7E6"/>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438DC3A3-8DD2-439E-ACC2-23E461C34896}"/>
              </a:ext>
            </a:extLst>
          </p:cNvPr>
          <p:cNvSpPr>
            <a:spLocks xmlns:a="http://schemas.openxmlformats.org/drawingml/2006/main" noGrp="1"/>
          </p:cNvSpPr>
          <p:nvPr/>
        </p:nvSpPr>
        <p:spPr>
          <a:xfrm xmlns:a="http://schemas.openxmlformats.org/drawingml/2006/main">
            <a:off x="6896100" y="3886200"/>
            <a:ext cx="3543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Vì sao quan trọng?</a:t>
            </a:r>
          </a:p>
        </p:txBody>
      </p:sp>
      <p:sp>
        <p:nvSpPr>
          <p:cNvPr id="9" name="">
            <a:extLst xmlns:a="http://schemas.openxmlformats.org/drawingml/2006/main">
              <a:ext uri="{FF2B5EF4-FFF2-40B4-BE49-F238E27FC236}">
                <a16:creationId xmlns:a16="http://schemas.microsoft.com/office/drawing/2014/main" id="{9AF9F69C-8B7C-4A74-A796-7FAD31F9B6EB}"/>
              </a:ext>
            </a:extLst>
          </p:cNvPr>
          <p:cNvSpPr>
            <a:spLocks xmlns:a="http://schemas.openxmlformats.org/drawingml/2006/main" noGrp="1"/>
          </p:cNvSpPr>
          <p:nvPr/>
        </p:nvSpPr>
        <p:spPr>
          <a:xfrm xmlns:a="http://schemas.openxmlformats.org/drawingml/2006/main">
            <a:off x="6896100" y="4305300"/>
            <a:ext cx="3543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Cùng một câu xin gợi ý có thể sinh phản hồi khác nhau tùy bài, số lần hint và kết quả validation gần nhất.</a:t>
            </a:r>
          </a:p>
        </p:txBody>
      </p:sp>
      <p:sp>
        <p:nvSpPr>
          <p:cNvPr id="10" name="">
            <a:extLst xmlns:a="http://schemas.openxmlformats.org/drawingml/2006/main">
              <a:ext uri="{FF2B5EF4-FFF2-40B4-BE49-F238E27FC236}">
                <a16:creationId xmlns:a16="http://schemas.microsoft.com/office/drawing/2014/main" id="{5240F273-93B5-47B4-9222-2E04FBE4F5CD}"/>
              </a:ext>
            </a:extLst>
          </p:cNvPr>
          <p:cNvSpPr>
            <a:spLocks xmlns:a="http://schemas.openxmlformats.org/drawingml/2006/main" noGrp="1"/>
          </p:cNvSpPr>
          <p:nvPr/>
        </p:nvSpPr>
        <p:spPr>
          <a:xfrm xmlns:a="http://schemas.openxmlformats.org/drawingml/2006/main">
            <a:off x="1104900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90A1B9"/>
                </a:solidFill>
              </a:defRPr>
            </a:pPr>
            <a:r>
              <a:rPr sz="1050" b="0">
                <a:solidFill>
                  <a:srgbClr val="90A1B9"/>
                </a:solidFill>
              </a:rPr>
              <a:t>09</a:t>
            </a:r>
          </a:p>
        </p:txBody>
      </p:sp>
    </p:spTree>
    <p:extLst>
      <p:ext uri="{BB962C8B-B14F-4D97-AF65-F5344CB8AC3E}">
        <p14:creationId xmlns:p14="http://schemas.microsoft.com/office/powerpoint/2010/main" val="9343237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0F8B87-591F-44B5-899C-01510724B909}"/>
              </a:ext>
            </a:extLst>
          </p:cNvPr>
          <p:cNvSpPr>
            <a:spLocks xmlns:a="http://schemas.openxmlformats.org/drawingml/2006/main" noGrp="1"/>
          </p:cNvSpPr>
          <p:nvPr/>
        </p:nvSpPr>
        <p:spPr>
          <a:xfrm xmlns:a="http://schemas.openxmlformats.org/drawingml/2006/main">
            <a:off x="666750" y="3429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F4E79"/>
                </a:solidFill>
              </a:defRPr>
            </a:pPr>
            <a:r>
              <a:rPr sz="1050" b="1">
                <a:solidFill>
                  <a:srgbClr val="1F4E79"/>
                </a:solidFill>
              </a:rPr>
              <a:t>DSA SOCRATIC AGENT</a:t>
            </a:r>
          </a:p>
        </p:txBody>
      </p:sp>
      <p:sp>
        <p:nvSpPr>
          <p:cNvPr id="2" name="">
            <a:extLst xmlns:a="http://schemas.openxmlformats.org/drawingml/2006/main">
              <a:ext uri="{FF2B5EF4-FFF2-40B4-BE49-F238E27FC236}">
                <a16:creationId xmlns:a16="http://schemas.microsoft.com/office/drawing/2014/main" id="{70B1F179-DBCB-4FDD-885C-93640F879E3E}"/>
              </a:ext>
            </a:extLst>
          </p:cNvPr>
          <p:cNvSpPr>
            <a:spLocks xmlns:a="http://schemas.openxmlformats.org/drawingml/2006/main" noGrp="1"/>
          </p:cNvSpPr>
          <p:nvPr/>
        </p:nvSpPr>
        <p:spPr>
          <a:xfrm xmlns:a="http://schemas.openxmlformats.org/drawingml/2006/main">
            <a:off x="666750" y="6858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20618"/>
                </a:solidFill>
              </a:defRPr>
            </a:pPr>
            <a:r>
              <a:rPr sz="2850" b="1">
                <a:solidFill>
                  <a:srgbClr val="020618"/>
                </a:solidFill>
              </a:rPr>
              <a:t>Quality Layer</a:t>
            </a:r>
          </a:p>
        </p:txBody>
      </p:sp>
      <p:sp>
        <p:nvSpPr>
          <p:cNvPr id="3" name="">
            <a:extLst xmlns:a="http://schemas.openxmlformats.org/drawingml/2006/main">
              <a:ext uri="{FF2B5EF4-FFF2-40B4-BE49-F238E27FC236}">
                <a16:creationId xmlns:a16="http://schemas.microsoft.com/office/drawing/2014/main" id="{3BC4AE7C-A9E4-4D84-AB5D-9B640E538C3C}"/>
              </a:ext>
            </a:extLst>
          </p:cNvPr>
          <p:cNvSpPr>
            <a:spLocks xmlns:a="http://schemas.openxmlformats.org/drawingml/2006/main" noGrp="1"/>
          </p:cNvSpPr>
          <p:nvPr/>
        </p:nvSpPr>
        <p:spPr>
          <a:xfrm xmlns:a="http://schemas.openxmlformats.org/drawingml/2006/main">
            <a:off x="809625" y="1524000"/>
            <a:ext cx="3286125" cy="2000250"/>
          </a:xfrm>
          <a:prstGeom xmlns:a="http://schemas.openxmlformats.org/drawingml/2006/main" prst="roundRect">
            <a:avLst>
              <a:gd name="adj" fmla="val 5714"/>
            </a:avLst>
          </a:prstGeom>
          <a:solidFill xmlns:a="http://schemas.openxmlformats.org/drawingml/2006/main">
            <a:srgbClr val="EAF2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7FA462C1-7410-4552-9CE1-FF7AE562B271}"/>
              </a:ext>
            </a:extLst>
          </p:cNvPr>
          <p:cNvSpPr>
            <a:spLocks xmlns:a="http://schemas.openxmlformats.org/drawingml/2006/main" noGrp="1"/>
          </p:cNvSpPr>
          <p:nvPr/>
        </p:nvSpPr>
        <p:spPr>
          <a:xfrm xmlns:a="http://schemas.openxmlformats.org/drawingml/2006/main">
            <a:off x="1038225" y="1695450"/>
            <a:ext cx="2828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Testcase Generator</a:t>
            </a:r>
          </a:p>
        </p:txBody>
      </p:sp>
      <p:sp>
        <p:nvSpPr>
          <p:cNvPr id="5" name="">
            <a:extLst xmlns:a="http://schemas.openxmlformats.org/drawingml/2006/main">
              <a:ext uri="{FF2B5EF4-FFF2-40B4-BE49-F238E27FC236}">
                <a16:creationId xmlns:a16="http://schemas.microsoft.com/office/drawing/2014/main" id="{96815AEB-7331-4A56-AAE9-520592E13F26}"/>
              </a:ext>
            </a:extLst>
          </p:cNvPr>
          <p:cNvSpPr>
            <a:spLocks xmlns:a="http://schemas.openxmlformats.org/drawingml/2006/main" noGrp="1"/>
          </p:cNvSpPr>
          <p:nvPr/>
        </p:nvSpPr>
        <p:spPr>
          <a:xfrm xmlns:a="http://schemas.openxmlformats.org/drawingml/2006/main">
            <a:off x="1038225" y="2114550"/>
            <a:ext cx="2828925"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Sinh basic, edge, adversarial/stress cases. Phân biệt validation và trace-only testcase.</a:t>
            </a:r>
          </a:p>
        </p:txBody>
      </p:sp>
      <p:sp>
        <p:nvSpPr>
          <p:cNvPr id="6" name="">
            <a:extLst xmlns:a="http://schemas.openxmlformats.org/drawingml/2006/main">
              <a:ext uri="{FF2B5EF4-FFF2-40B4-BE49-F238E27FC236}">
                <a16:creationId xmlns:a16="http://schemas.microsoft.com/office/drawing/2014/main" id="{ADAB2D22-CD56-4B1C-AE26-ADDFED78A88C}"/>
              </a:ext>
            </a:extLst>
          </p:cNvPr>
          <p:cNvSpPr>
            <a:spLocks xmlns:a="http://schemas.openxmlformats.org/drawingml/2006/main" noGrp="1"/>
          </p:cNvSpPr>
          <p:nvPr/>
        </p:nvSpPr>
        <p:spPr>
          <a:xfrm xmlns:a="http://schemas.openxmlformats.org/drawingml/2006/main">
            <a:off x="4457700" y="1524000"/>
            <a:ext cx="3286125" cy="2000250"/>
          </a:xfrm>
          <a:prstGeom xmlns:a="http://schemas.openxmlformats.org/drawingml/2006/main" prst="roundRect">
            <a:avLst>
              <a:gd name="adj" fmla="val 5714"/>
            </a:avLst>
          </a:prstGeom>
          <a:solidFill xmlns:a="http://schemas.openxmlformats.org/drawingml/2006/main">
            <a:srgbClr val="EAF7EE"/>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AF0A0DC-BA34-4739-9829-EB95BA93E4F7}"/>
              </a:ext>
            </a:extLst>
          </p:cNvPr>
          <p:cNvSpPr>
            <a:spLocks xmlns:a="http://schemas.openxmlformats.org/drawingml/2006/main" noGrp="1"/>
          </p:cNvSpPr>
          <p:nvPr/>
        </p:nvSpPr>
        <p:spPr>
          <a:xfrm xmlns:a="http://schemas.openxmlformats.org/drawingml/2006/main">
            <a:off x="4686300" y="1695450"/>
            <a:ext cx="2828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Execution Validator</a:t>
            </a:r>
          </a:p>
        </p:txBody>
      </p:sp>
      <p:sp>
        <p:nvSpPr>
          <p:cNvPr id="8" name="">
            <a:extLst xmlns:a="http://schemas.openxmlformats.org/drawingml/2006/main">
              <a:ext uri="{FF2B5EF4-FFF2-40B4-BE49-F238E27FC236}">
                <a16:creationId xmlns:a16="http://schemas.microsoft.com/office/drawing/2014/main" id="{91E8D6AC-04C0-4D2F-A8C7-6C90410D04AE}"/>
              </a:ext>
            </a:extLst>
          </p:cNvPr>
          <p:cNvSpPr>
            <a:spLocks xmlns:a="http://schemas.openxmlformats.org/drawingml/2006/main" noGrp="1"/>
          </p:cNvSpPr>
          <p:nvPr/>
        </p:nvSpPr>
        <p:spPr>
          <a:xfrm xmlns:a="http://schemas.openxmlformats.org/drawingml/2006/main">
            <a:off x="4686300" y="2114550"/>
            <a:ext cx="2828925"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Chạy Python code trên testcase có expected output, giới hạn timeout và chuẩn hóa kết quả.</a:t>
            </a:r>
          </a:p>
        </p:txBody>
      </p:sp>
      <p:sp>
        <p:nvSpPr>
          <p:cNvPr id="9" name="">
            <a:extLst xmlns:a="http://schemas.openxmlformats.org/drawingml/2006/main">
              <a:ext uri="{FF2B5EF4-FFF2-40B4-BE49-F238E27FC236}">
                <a16:creationId xmlns:a16="http://schemas.microsoft.com/office/drawing/2014/main" id="{3D32FFF7-03CA-40F4-BA94-875B2DB9A419}"/>
              </a:ext>
            </a:extLst>
          </p:cNvPr>
          <p:cNvSpPr>
            <a:spLocks xmlns:a="http://schemas.openxmlformats.org/drawingml/2006/main" noGrp="1"/>
          </p:cNvSpPr>
          <p:nvPr/>
        </p:nvSpPr>
        <p:spPr>
          <a:xfrm xmlns:a="http://schemas.openxmlformats.org/drawingml/2006/main">
            <a:off x="8096250" y="1524000"/>
            <a:ext cx="3286125" cy="2000250"/>
          </a:xfrm>
          <a:prstGeom xmlns:a="http://schemas.openxmlformats.org/drawingml/2006/main" prst="roundRect">
            <a:avLst>
              <a:gd name="adj" fmla="val 5714"/>
            </a:avLst>
          </a:prstGeom>
          <a:solidFill xmlns:a="http://schemas.openxmlformats.org/drawingml/2006/main">
            <a:srgbClr val="F1EAFE"/>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732804F-B636-4C13-9D8C-95D008728D20}"/>
              </a:ext>
            </a:extLst>
          </p:cNvPr>
          <p:cNvSpPr>
            <a:spLocks xmlns:a="http://schemas.openxmlformats.org/drawingml/2006/main" noGrp="1"/>
          </p:cNvSpPr>
          <p:nvPr/>
        </p:nvSpPr>
        <p:spPr>
          <a:xfrm xmlns:a="http://schemas.openxmlformats.org/drawingml/2006/main">
            <a:off x="8324850" y="1695450"/>
            <a:ext cx="2828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Pedagogy Critic</a:t>
            </a:r>
          </a:p>
        </p:txBody>
      </p:sp>
      <p:sp>
        <p:nvSpPr>
          <p:cNvPr id="11" name="">
            <a:extLst xmlns:a="http://schemas.openxmlformats.org/drawingml/2006/main">
              <a:ext uri="{FF2B5EF4-FFF2-40B4-BE49-F238E27FC236}">
                <a16:creationId xmlns:a16="http://schemas.microsoft.com/office/drawing/2014/main" id="{3779C3A1-3649-4BE2-95E9-7265F0ABC097}"/>
              </a:ext>
            </a:extLst>
          </p:cNvPr>
          <p:cNvSpPr>
            <a:spLocks xmlns:a="http://schemas.openxmlformats.org/drawingml/2006/main" noGrp="1"/>
          </p:cNvSpPr>
          <p:nvPr/>
        </p:nvSpPr>
        <p:spPr>
          <a:xfrm xmlns:a="http://schemas.openxmlformats.org/drawingml/2006/main">
            <a:off x="8324850" y="2114550"/>
            <a:ext cx="2828925"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Kiểm phản hồi nháp: không lộ full solution, đúng hint_level, đủ tính Socratic.</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6091f126b7b42b9"/>
          <a:stretch xmlns:a="http://schemas.openxmlformats.org/drawingml/2006/main"/>
        </p:blipFill>
        <p:spPr>
          <a:xfrm xmlns:a="http://schemas.openxmlformats.org/drawingml/2006/main">
            <a:off x="3298831" y="4095750"/>
            <a:ext cx="5594338"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DEF78389-5AA6-4DD5-BB30-DB2CD11415A0}"/>
              </a:ext>
            </a:extLst>
          </p:cNvPr>
          <p:cNvSpPr>
            <a:spLocks xmlns:a="http://schemas.openxmlformats.org/drawingml/2006/main" noGrp="1"/>
          </p:cNvSpPr>
          <p:nvPr/>
        </p:nvSpPr>
        <p:spPr>
          <a:xfrm xmlns:a="http://schemas.openxmlformats.org/drawingml/2006/main">
            <a:off x="1104900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90A1B9"/>
                </a:solidFill>
              </a:defRPr>
            </a:pPr>
            <a:r>
              <a:rPr sz="1050" b="0">
                <a:solidFill>
                  <a:srgbClr val="90A1B9"/>
                </a:solidFill>
              </a:rPr>
              <a:t>10</a:t>
            </a:r>
          </a:p>
        </p:txBody>
      </p:sp>
    </p:spTree>
    <p:extLst>
      <p:ext uri="{BB962C8B-B14F-4D97-AF65-F5344CB8AC3E}">
        <p14:creationId xmlns:p14="http://schemas.microsoft.com/office/powerpoint/2010/main" val="540766391"/>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C28C09-5B6A-42C8-9683-86CF787B4E99}"/>
              </a:ext>
            </a:extLst>
          </p:cNvPr>
          <p:cNvSpPr>
            <a:spLocks xmlns:a="http://schemas.openxmlformats.org/drawingml/2006/main" noGrp="1"/>
          </p:cNvSpPr>
          <p:nvPr/>
        </p:nvSpPr>
        <p:spPr>
          <a:xfrm xmlns:a="http://schemas.openxmlformats.org/drawingml/2006/main">
            <a:off x="666750" y="3429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F4E79"/>
                </a:solidFill>
              </a:defRPr>
            </a:pPr>
            <a:r>
              <a:rPr sz="1050" b="1">
                <a:solidFill>
                  <a:srgbClr val="1F4E79"/>
                </a:solidFill>
              </a:rPr>
              <a:t>DSA SOCRATIC AGENT</a:t>
            </a:r>
          </a:p>
        </p:txBody>
      </p:sp>
      <p:sp>
        <p:nvSpPr>
          <p:cNvPr id="2" name="">
            <a:extLst xmlns:a="http://schemas.openxmlformats.org/drawingml/2006/main">
              <a:ext uri="{FF2B5EF4-FFF2-40B4-BE49-F238E27FC236}">
                <a16:creationId xmlns:a16="http://schemas.microsoft.com/office/drawing/2014/main" id="{16655BCB-0B46-493D-8D76-4FA80E8D4628}"/>
              </a:ext>
            </a:extLst>
          </p:cNvPr>
          <p:cNvSpPr>
            <a:spLocks xmlns:a="http://schemas.openxmlformats.org/drawingml/2006/main" noGrp="1"/>
          </p:cNvSpPr>
          <p:nvPr/>
        </p:nvSpPr>
        <p:spPr>
          <a:xfrm xmlns:a="http://schemas.openxmlformats.org/drawingml/2006/main">
            <a:off x="666750" y="6858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20618"/>
                </a:solidFill>
              </a:defRPr>
            </a:pPr>
            <a:r>
              <a:rPr sz="2850" b="1">
                <a:solidFill>
                  <a:srgbClr val="020618"/>
                </a:solidFill>
              </a:rPr>
              <a:t>Kết quả đạt được</a:t>
            </a:r>
          </a:p>
        </p:txBody>
      </p:sp>
      <p:sp>
        <p:nvSpPr>
          <p:cNvPr id="3" name="">
            <a:extLst xmlns:a="http://schemas.openxmlformats.org/drawingml/2006/main">
              <a:ext uri="{FF2B5EF4-FFF2-40B4-BE49-F238E27FC236}">
                <a16:creationId xmlns:a16="http://schemas.microsoft.com/office/drawing/2014/main" id="{D619315F-4D91-4A51-A8D9-FC96E3CD08F6}"/>
              </a:ext>
            </a:extLst>
          </p:cNvPr>
          <p:cNvSpPr>
            <a:spLocks xmlns:a="http://schemas.openxmlformats.org/drawingml/2006/main" noGrp="1"/>
          </p:cNvSpPr>
          <p:nvPr/>
        </p:nvSpPr>
        <p:spPr>
          <a:xfrm xmlns:a="http://schemas.openxmlformats.org/drawingml/2006/main">
            <a:off x="857250" y="1619250"/>
            <a:ext cx="581025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020618"/>
                </a:solidFill>
              </a:defRPr>
            </a:pPr>
            <a:r>
              <a:rPr sz="1800" b="0">
                <a:solidFill>
                  <a:srgbClr val="020618"/>
                </a:solidFill>
              </a:rPr>
              <a:t>• Có kiến trúc multi-agent rõ ràng cho DSA tutor.</a:t>
            </a:r>
          </a:p>
          <a:p xmlns:a="http://schemas.openxmlformats.org/drawingml/2006/main">
            <a:pPr>
              <a:defRPr sz="1800" b="0">
                <a:solidFill>
                  <a:srgbClr val="020618"/>
                </a:solidFill>
              </a:defRPr>
            </a:pPr>
            <a:r>
              <a:rPr sz="1800" b="0">
                <a:solidFill>
                  <a:srgbClr val="020618"/>
                </a:solidFill>
              </a:rPr>
              <a:t>• Có LangGraph workflow tách node theo intent.</a:t>
            </a:r>
          </a:p>
          <a:p xmlns:a="http://schemas.openxmlformats.org/drawingml/2006/main">
            <a:pPr>
              <a:defRPr sz="1800" b="0">
                <a:solidFill>
                  <a:srgbClr val="020618"/>
                </a:solidFill>
              </a:defRPr>
            </a:pPr>
            <a:r>
              <a:rPr sz="1800" b="0">
                <a:solidFill>
                  <a:srgbClr val="020618"/>
                </a:solidFill>
              </a:rPr>
              <a:t>• Có cơ chế hint nhiều cấp độ theo phương pháp Socratic.</a:t>
            </a:r>
          </a:p>
          <a:p xmlns:a="http://schemas.openxmlformats.org/drawingml/2006/main">
            <a:pPr>
              <a:defRPr sz="1800" b="0">
                <a:solidFill>
                  <a:srgbClr val="020618"/>
                </a:solidFill>
              </a:defRPr>
            </a:pPr>
            <a:r>
              <a:rPr sz="1800" b="0">
                <a:solidFill>
                  <a:srgbClr val="020618"/>
                </a:solidFill>
              </a:rPr>
              <a:t>• Có Quality Layer: testcase, validation, pedagogy review.</a:t>
            </a:r>
          </a:p>
          <a:p xmlns:a="http://schemas.openxmlformats.org/drawingml/2006/main">
            <a:pPr>
              <a:defRPr sz="1800" b="0">
                <a:solidFill>
                  <a:srgbClr val="020618"/>
                </a:solidFill>
              </a:defRPr>
            </a:pPr>
            <a:r>
              <a:rPr sz="1800" b="0">
                <a:solidFill>
                  <a:srgbClr val="020618"/>
                </a:solidFill>
              </a:rPr>
              <a:t>• Có Streamlit UI nhiều phiên và hiển thị trạng thái học tập.</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262d4606df14fab"/>
          <a:stretch xmlns:a="http://schemas.openxmlformats.org/drawingml/2006/main"/>
        </p:blipFill>
        <p:spPr>
          <a:xfrm xmlns:a="http://schemas.openxmlformats.org/drawingml/2006/main">
            <a:off x="7000875" y="1882588"/>
            <a:ext cx="4000500" cy="2235574"/>
          </a:xfrm>
          <a:prstGeom xmlns:a="http://schemas.openxmlformats.org/drawingml/2006/main" prst="roundRect">
            <a:avLst>
              <a:gd name="adj" fmla="val 4000"/>
            </a:avLst>
          </a:prstGeom>
        </p:spPr>
      </p:pic>
      <p:sp>
        <p:nvSpPr>
          <p:cNvPr id="5" name="">
            <a:extLst xmlns:a="http://schemas.openxmlformats.org/drawingml/2006/main">
              <a:ext uri="{FF2B5EF4-FFF2-40B4-BE49-F238E27FC236}">
                <a16:creationId xmlns:a16="http://schemas.microsoft.com/office/drawing/2014/main" id="{69731C67-EE02-4194-9413-0689F5B349AD}"/>
              </a:ext>
            </a:extLst>
          </p:cNvPr>
          <p:cNvSpPr>
            <a:spLocks xmlns:a="http://schemas.openxmlformats.org/drawingml/2006/main" noGrp="1"/>
          </p:cNvSpPr>
          <p:nvPr/>
        </p:nvSpPr>
        <p:spPr>
          <a:xfrm xmlns:a="http://schemas.openxmlformats.org/drawingml/2006/main">
            <a:off x="1104900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90A1B9"/>
                </a:solidFill>
              </a:defRPr>
            </a:pPr>
            <a:r>
              <a:rPr sz="1050" b="0">
                <a:solidFill>
                  <a:srgbClr val="90A1B9"/>
                </a:solidFill>
              </a:rPr>
              <a:t>11</a:t>
            </a:r>
          </a:p>
        </p:txBody>
      </p:sp>
    </p:spTree>
    <p:extLst>
      <p:ext uri="{BB962C8B-B14F-4D97-AF65-F5344CB8AC3E}">
        <p14:creationId xmlns:p14="http://schemas.microsoft.com/office/powerpoint/2010/main" val="10659571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FCCD12F-E4E6-4147-A615-4EF19FCA2D95}"/>
              </a:ext>
            </a:extLst>
          </p:cNvPr>
          <p:cNvSpPr>
            <a:spLocks xmlns:a="http://schemas.openxmlformats.org/drawingml/2006/main" noGrp="1"/>
          </p:cNvSpPr>
          <p:nvPr/>
        </p:nvSpPr>
        <p:spPr>
          <a:xfrm xmlns:a="http://schemas.openxmlformats.org/drawingml/2006/main">
            <a:off x="666750" y="3429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F4E79"/>
                </a:solidFill>
              </a:defRPr>
            </a:pPr>
            <a:r>
              <a:rPr sz="1050" b="1">
                <a:solidFill>
                  <a:srgbClr val="1F4E79"/>
                </a:solidFill>
              </a:rPr>
              <a:t>DSA SOCRATIC AGENT</a:t>
            </a:r>
          </a:p>
        </p:txBody>
      </p:sp>
      <p:sp>
        <p:nvSpPr>
          <p:cNvPr id="2" name="">
            <a:extLst xmlns:a="http://schemas.openxmlformats.org/drawingml/2006/main">
              <a:ext uri="{FF2B5EF4-FFF2-40B4-BE49-F238E27FC236}">
                <a16:creationId xmlns:a16="http://schemas.microsoft.com/office/drawing/2014/main" id="{D6CE6CDD-699D-4929-9A94-1D25025A8338}"/>
              </a:ext>
            </a:extLst>
          </p:cNvPr>
          <p:cNvSpPr>
            <a:spLocks xmlns:a="http://schemas.openxmlformats.org/drawingml/2006/main" noGrp="1"/>
          </p:cNvSpPr>
          <p:nvPr/>
        </p:nvSpPr>
        <p:spPr>
          <a:xfrm xmlns:a="http://schemas.openxmlformats.org/drawingml/2006/main">
            <a:off x="666750" y="6858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20618"/>
                </a:solidFill>
              </a:defRPr>
            </a:pPr>
            <a:r>
              <a:rPr sz="2850" b="1">
                <a:solidFill>
                  <a:srgbClr val="020618"/>
                </a:solidFill>
              </a:rPr>
              <a:t>Hạn chế và hướng phát triển</a:t>
            </a:r>
          </a:p>
        </p:txBody>
      </p:sp>
      <p:sp>
        <p:nvSpPr>
          <p:cNvPr id="3" name="">
            <a:extLst xmlns:a="http://schemas.openxmlformats.org/drawingml/2006/main">
              <a:ext uri="{FF2B5EF4-FFF2-40B4-BE49-F238E27FC236}">
                <a16:creationId xmlns:a16="http://schemas.microsoft.com/office/drawing/2014/main" id="{0B025C4E-1EEA-4D23-8BC7-3EF70071701F}"/>
              </a:ext>
            </a:extLst>
          </p:cNvPr>
          <p:cNvSpPr>
            <a:spLocks xmlns:a="http://schemas.openxmlformats.org/drawingml/2006/main" noGrp="1"/>
          </p:cNvSpPr>
          <p:nvPr/>
        </p:nvSpPr>
        <p:spPr>
          <a:xfrm xmlns:a="http://schemas.openxmlformats.org/drawingml/2006/main">
            <a:off x="857250" y="1619250"/>
            <a:ext cx="4762500" cy="2476500"/>
          </a:xfrm>
          <a:prstGeom xmlns:a="http://schemas.openxmlformats.org/drawingml/2006/main" prst="roundRect">
            <a:avLst>
              <a:gd name="adj" fmla="val 4615"/>
            </a:avLst>
          </a:prstGeom>
          <a:solidFill xmlns:a="http://schemas.openxmlformats.org/drawingml/2006/main">
            <a:srgbClr val="FFF7E6"/>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9A218226-CBA2-405B-B0B3-FE79DA8798C0}"/>
              </a:ext>
            </a:extLst>
          </p:cNvPr>
          <p:cNvSpPr>
            <a:spLocks xmlns:a="http://schemas.openxmlformats.org/drawingml/2006/main" noGrp="1"/>
          </p:cNvSpPr>
          <p:nvPr/>
        </p:nvSpPr>
        <p:spPr>
          <a:xfrm xmlns:a="http://schemas.openxmlformats.org/drawingml/2006/main">
            <a:off x="1085850" y="1790700"/>
            <a:ext cx="430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Chưa làm được</a:t>
            </a:r>
          </a:p>
        </p:txBody>
      </p:sp>
      <p:sp>
        <p:nvSpPr>
          <p:cNvPr id="5" name="">
            <a:extLst xmlns:a="http://schemas.openxmlformats.org/drawingml/2006/main">
              <a:ext uri="{FF2B5EF4-FFF2-40B4-BE49-F238E27FC236}">
                <a16:creationId xmlns:a16="http://schemas.microsoft.com/office/drawing/2014/main" id="{2E6B3487-44FB-47EA-A476-67E325266750}"/>
              </a:ext>
            </a:extLst>
          </p:cNvPr>
          <p:cNvSpPr>
            <a:spLocks xmlns:a="http://schemas.openxmlformats.org/drawingml/2006/main" noGrp="1"/>
          </p:cNvSpPr>
          <p:nvPr/>
        </p:nvSpPr>
        <p:spPr>
          <a:xfrm xmlns:a="http://schemas.openxmlformats.org/drawingml/2006/main">
            <a:off x="1085850" y="2209800"/>
            <a:ext cx="43053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Chưa có database bền vững; sandbox mới tập trung Python; testcase expected output còn phụ thuộc độ rõ của đề; chưa có benchmark lớn.</a:t>
            </a:r>
          </a:p>
        </p:txBody>
      </p:sp>
      <p:sp>
        <p:nvSpPr>
          <p:cNvPr id="6" name="">
            <a:extLst xmlns:a="http://schemas.openxmlformats.org/drawingml/2006/main">
              <a:ext uri="{FF2B5EF4-FFF2-40B4-BE49-F238E27FC236}">
                <a16:creationId xmlns:a16="http://schemas.microsoft.com/office/drawing/2014/main" id="{021103B7-29EC-4FAF-BEAC-E4365AE6E349}"/>
              </a:ext>
            </a:extLst>
          </p:cNvPr>
          <p:cNvSpPr>
            <a:spLocks xmlns:a="http://schemas.openxmlformats.org/drawingml/2006/main" noGrp="1"/>
          </p:cNvSpPr>
          <p:nvPr/>
        </p:nvSpPr>
        <p:spPr>
          <a:xfrm xmlns:a="http://schemas.openxmlformats.org/drawingml/2006/main">
            <a:off x="6572250" y="1619250"/>
            <a:ext cx="4762500" cy="2476500"/>
          </a:xfrm>
          <a:prstGeom xmlns:a="http://schemas.openxmlformats.org/drawingml/2006/main" prst="roundRect">
            <a:avLst>
              <a:gd name="adj" fmla="val 4615"/>
            </a:avLst>
          </a:prstGeom>
          <a:solidFill xmlns:a="http://schemas.openxmlformats.org/drawingml/2006/main">
            <a:srgbClr val="EAF7EE"/>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C28587F-6D2B-4766-9A02-E176D9968A72}"/>
              </a:ext>
            </a:extLst>
          </p:cNvPr>
          <p:cNvSpPr>
            <a:spLocks xmlns:a="http://schemas.openxmlformats.org/drawingml/2006/main" noGrp="1"/>
          </p:cNvSpPr>
          <p:nvPr/>
        </p:nvSpPr>
        <p:spPr>
          <a:xfrm xmlns:a="http://schemas.openxmlformats.org/drawingml/2006/main">
            <a:off x="6800850" y="1790700"/>
            <a:ext cx="430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20618"/>
                </a:solidFill>
              </a:defRPr>
            </a:pPr>
            <a:r>
              <a:rPr sz="1575" b="1">
                <a:solidFill>
                  <a:srgbClr val="020618"/>
                </a:solidFill>
              </a:rPr>
              <a:t>Phát triển tiếp</a:t>
            </a:r>
          </a:p>
        </p:txBody>
      </p:sp>
      <p:sp>
        <p:nvSpPr>
          <p:cNvPr id="8" name="">
            <a:extLst xmlns:a="http://schemas.openxmlformats.org/drawingml/2006/main">
              <a:ext uri="{FF2B5EF4-FFF2-40B4-BE49-F238E27FC236}">
                <a16:creationId xmlns:a16="http://schemas.microsoft.com/office/drawing/2014/main" id="{C922EAC2-2580-4B91-A6AC-B7C09E2EF060}"/>
              </a:ext>
            </a:extLst>
          </p:cNvPr>
          <p:cNvSpPr>
            <a:spLocks xmlns:a="http://schemas.openxmlformats.org/drawingml/2006/main" noGrp="1"/>
          </p:cNvSpPr>
          <p:nvPr/>
        </p:nvSpPr>
        <p:spPr>
          <a:xfrm xmlns:a="http://schemas.openxmlformats.org/drawingml/2006/main">
            <a:off x="6800850" y="2209800"/>
            <a:ext cx="43053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45556C"/>
                </a:solidFill>
              </a:defRPr>
            </a:pPr>
            <a:r>
              <a:rPr sz="1275" b="0">
                <a:solidFill>
                  <a:srgbClr val="45556C"/>
                </a:solidFill>
              </a:rPr>
              <a:t>Lưu session bằng database; nâng cấp sandbox; thêm Evaluation Agent; xây benchmark DSA; mở rộng UI theo dõi tiến độ học.</a:t>
            </a:r>
          </a:p>
        </p:txBody>
      </p:sp>
      <p:sp>
        <p:nvSpPr>
          <p:cNvPr id="9" name="">
            <a:extLst xmlns:a="http://schemas.openxmlformats.org/drawingml/2006/main">
              <a:ext uri="{FF2B5EF4-FFF2-40B4-BE49-F238E27FC236}">
                <a16:creationId xmlns:a16="http://schemas.microsoft.com/office/drawing/2014/main" id="{526C5C94-459D-4425-A93A-108767FD551A}"/>
              </a:ext>
            </a:extLst>
          </p:cNvPr>
          <p:cNvSpPr>
            <a:spLocks xmlns:a="http://schemas.openxmlformats.org/drawingml/2006/main" noGrp="1"/>
          </p:cNvSpPr>
          <p:nvPr/>
        </p:nvSpPr>
        <p:spPr>
          <a:xfrm xmlns:a="http://schemas.openxmlformats.org/drawingml/2006/main">
            <a:off x="1381125" y="4762500"/>
            <a:ext cx="942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F4E79"/>
                </a:solidFill>
              </a:defRPr>
            </a:pPr>
            <a:r>
              <a:rPr sz="1800" b="1">
                <a:solidFill>
                  <a:srgbClr val="1F4E79"/>
                </a:solidFill>
              </a:rPr>
              <a:t>Kết luận: hệ thống đặt nền tảng cho một AI tutor có trạng thái, có workflow và có lớp kiểm soát chất lượng, phù hợp để mở rộng thành trợ giảng cá nhân hóa.</a:t>
            </a:r>
          </a:p>
        </p:txBody>
      </p:sp>
      <p:sp>
        <p:nvSpPr>
          <p:cNvPr id="10" name="">
            <a:extLst xmlns:a="http://schemas.openxmlformats.org/drawingml/2006/main">
              <a:ext uri="{FF2B5EF4-FFF2-40B4-BE49-F238E27FC236}">
                <a16:creationId xmlns:a16="http://schemas.microsoft.com/office/drawing/2014/main" id="{6F6EDDA8-FA2E-451A-875D-43F1B5D403D3}"/>
              </a:ext>
            </a:extLst>
          </p:cNvPr>
          <p:cNvSpPr>
            <a:spLocks xmlns:a="http://schemas.openxmlformats.org/drawingml/2006/main" noGrp="1"/>
          </p:cNvSpPr>
          <p:nvPr/>
        </p:nvSpPr>
        <p:spPr>
          <a:xfrm xmlns:a="http://schemas.openxmlformats.org/drawingml/2006/main">
            <a:off x="1104900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90A1B9"/>
                </a:solidFill>
              </a:defRPr>
            </a:pPr>
            <a:r>
              <a:rPr sz="1050" b="0">
                <a:solidFill>
                  <a:srgbClr val="90A1B9"/>
                </a:solidFill>
              </a:rPr>
              <a:t>12</a:t>
            </a:r>
          </a:p>
        </p:txBody>
      </p:sp>
    </p:spTree>
    <p:extLst>
      <p:ext uri="{BB962C8B-B14F-4D97-AF65-F5344CB8AC3E}">
        <p14:creationId xmlns:p14="http://schemas.microsoft.com/office/powerpoint/2010/main" val="13032360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2026-06-23T00:43:07.7360000Z</dcterms:created>
  <dcterms:modified xsi:type="dcterms:W3CDTF">2026-06-23T00:43:07.7360000Z</dcterms:modified>
</coreProperties>
</file>